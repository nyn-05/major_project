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 id="2147483686" r:id="rId4"/>
  </p:sldMasterIdLst>
  <p:notesMasterIdLst>
    <p:notesMasterId r:id="rId16"/>
  </p:notesMasterIdLst>
  <p:handoutMasterIdLst>
    <p:handoutMasterId r:id="rId17"/>
  </p:handoutMasterIdLst>
  <p:sldIdLst>
    <p:sldId id="258" r:id="rId5"/>
    <p:sldId id="303" r:id="rId6"/>
    <p:sldId id="309" r:id="rId7"/>
    <p:sldId id="310" r:id="rId8"/>
    <p:sldId id="307" r:id="rId9"/>
    <p:sldId id="267" r:id="rId10"/>
    <p:sldId id="284" r:id="rId11"/>
    <p:sldId id="311" r:id="rId12"/>
    <p:sldId id="306" r:id="rId13"/>
    <p:sldId id="291" r:id="rId14"/>
    <p:sldId id="30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25FC47-CF47-4DFE-83A1-E8DDF87CA630}">
          <p14:sldIdLst>
            <p14:sldId id="258"/>
            <p14:sldId id="303"/>
            <p14:sldId id="309"/>
            <p14:sldId id="310"/>
            <p14:sldId id="307"/>
            <p14:sldId id="267"/>
            <p14:sldId id="284"/>
            <p14:sldId id="311"/>
            <p14:sldId id="306"/>
            <p14:sldId id="291"/>
            <p14:sldId id="308"/>
          </p14:sldIdLst>
        </p14:section>
        <p14:section name="Untitled Section" id="{8D566896-CFEF-42FE-BB22-12BC250CF0C7}">
          <p14:sldIdLst/>
        </p14:section>
      </p14:sectionLst>
    </p:ext>
    <p:ext uri="{EFAFB233-063F-42B5-8137-9DF3F51BA10A}">
      <p15:sldGuideLst xmlns:p15="http://schemas.microsoft.com/office/powerpoint/2012/main">
        <p15:guide id="1" orient="horz" pos="1049" userDrawn="1">
          <p15:clr>
            <a:srgbClr val="A4A3A4"/>
          </p15:clr>
        </p15:guide>
        <p15:guide id="2" pos="23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8E01"/>
    <a:srgbClr val="000000"/>
    <a:srgbClr val="5858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howGuides="1">
      <p:cViewPr varScale="1">
        <p:scale>
          <a:sx n="79" d="100"/>
          <a:sy n="79" d="100"/>
        </p:scale>
        <p:origin x="638" y="72"/>
      </p:cViewPr>
      <p:guideLst>
        <p:guide orient="horz" pos="1049"/>
        <p:guide pos="2328"/>
      </p:guideLst>
    </p:cSldViewPr>
  </p:slideViewPr>
  <p:notesTextViewPr>
    <p:cViewPr>
      <p:scale>
        <a:sx n="1" d="1"/>
        <a:sy n="1" d="1"/>
      </p:scale>
      <p:origin x="0" y="0"/>
    </p:cViewPr>
  </p:notesTextViewPr>
  <p:gridSpacing cx="360000" cy="3600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Futura Cyrillic Book" panose="020B0502020204020303"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latin typeface="Futura Cyrillic Book" panose="020B0502020204020303" charset="0"/>
              </a:rPr>
              <a:t>2/3/2026</a:t>
            </a:fld>
            <a:endParaRPr lang="en-US">
              <a:latin typeface="Futura Cyrillic Book" panose="020B0502020204020303"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Futura Cyrillic Book" panose="020B0502020204020303"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latin typeface="Futura Cyrillic Book" panose="020B0502020204020303" charset="0"/>
              </a:rPr>
              <a:t>‹#›</a:t>
            </a:fld>
            <a:endParaRPr lang="en-US">
              <a:latin typeface="Futura Cyrillic Book" panose="020B0502020204020303" charset="0"/>
            </a:endParaRPr>
          </a:p>
        </p:txBody>
      </p:sp>
    </p:spTree>
    <p:extLst>
      <p:ext uri="{BB962C8B-B14F-4D97-AF65-F5344CB8AC3E}">
        <p14:creationId xmlns:p14="http://schemas.microsoft.com/office/powerpoint/2010/main" val="1488413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Futura Cyrillic Book" panose="020B0502020204020303" charset="0"/>
              </a:defRPr>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Futura Cyrillic Book" panose="020B0502020204020303" charset="0"/>
              </a:defRPr>
            </a:lvl1pPr>
          </a:lstStyle>
          <a:p>
            <a:fld id="{0ECD8AD1-49EC-45F2-A2FF-1FE3195688C5}" type="datetimeFigureOut">
              <a:rPr lang="en-IN" smtClean="0"/>
              <a:t>03-02-2026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Futura Cyrillic Book" panose="020B0502020204020303" charset="0"/>
              </a:defRPr>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Futura Cyrillic Book" panose="020B0502020204020303" charset="0"/>
              </a:defRPr>
            </a:lvl1pPr>
          </a:lstStyle>
          <a:p>
            <a:fld id="{7782813F-5D25-4BB6-888C-4601F85758C5}" type="slidenum">
              <a:rPr lang="en-IN" smtClean="0"/>
              <a:t>‹#›</a:t>
            </a:fld>
            <a:endParaRPr lang="en-IN"/>
          </a:p>
        </p:txBody>
      </p:sp>
    </p:spTree>
    <p:extLst>
      <p:ext uri="{BB962C8B-B14F-4D97-AF65-F5344CB8AC3E}">
        <p14:creationId xmlns:p14="http://schemas.microsoft.com/office/powerpoint/2010/main" val="3054132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Futura Cyrillic Book" panose="020B0502020204020303" charset="0"/>
        <a:ea typeface="+mn-ea"/>
        <a:cs typeface="+mn-cs"/>
      </a:defRPr>
    </a:lvl1pPr>
    <a:lvl2pPr marL="457200" algn="l" defTabSz="914400" rtl="0" eaLnBrk="1" latinLnBrk="0" hangingPunct="1">
      <a:defRPr sz="1200" kern="1200">
        <a:solidFill>
          <a:schemeClr val="tx1"/>
        </a:solidFill>
        <a:latin typeface="Futura Cyrillic Book" panose="020B0502020204020303" charset="0"/>
        <a:ea typeface="+mn-ea"/>
        <a:cs typeface="+mn-cs"/>
      </a:defRPr>
    </a:lvl2pPr>
    <a:lvl3pPr marL="914400" algn="l" defTabSz="914400" rtl="0" eaLnBrk="1" latinLnBrk="0" hangingPunct="1">
      <a:defRPr sz="1200" kern="1200">
        <a:solidFill>
          <a:schemeClr val="tx1"/>
        </a:solidFill>
        <a:latin typeface="Futura Cyrillic Book" panose="020B0502020204020303" charset="0"/>
        <a:ea typeface="+mn-ea"/>
        <a:cs typeface="+mn-cs"/>
      </a:defRPr>
    </a:lvl3pPr>
    <a:lvl4pPr marL="1371600" algn="l" defTabSz="914400" rtl="0" eaLnBrk="1" latinLnBrk="0" hangingPunct="1">
      <a:defRPr sz="1200" kern="1200">
        <a:solidFill>
          <a:schemeClr val="tx1"/>
        </a:solidFill>
        <a:latin typeface="Futura Cyrillic Book" panose="020B0502020204020303" charset="0"/>
        <a:ea typeface="+mn-ea"/>
        <a:cs typeface="+mn-cs"/>
      </a:defRPr>
    </a:lvl4pPr>
    <a:lvl5pPr marL="1828800" algn="l" defTabSz="914400" rtl="0" eaLnBrk="1" latinLnBrk="0" hangingPunct="1">
      <a:defRPr sz="1200" kern="1200">
        <a:solidFill>
          <a:schemeClr val="tx1"/>
        </a:solidFill>
        <a:latin typeface="Futura Cyrillic Book" panose="020B0502020204020303"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F95999-A99C-46D6-BFDA-AEFA180EA74F}"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F95999-A99C-46D6-BFDA-AEFA180EA74F}"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95999-A99C-46D6-BFDA-AEFA180EA74F}"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281ACE-890E-4B55-88CA-A440D73ED3A3}"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1BB8E-5703-4605-9BD4-B6282EF196A0}" type="slidenum">
              <a:rPr lang="en-US" smtClean="0"/>
              <a:t>‹#›</a:t>
            </a:fld>
            <a:endParaRPr lang="en-US"/>
          </a:p>
        </p:txBody>
      </p:sp>
      <p:pic>
        <p:nvPicPr>
          <p:cNvPr id="9" name="Picture 8" descr="Logo&#10;&#10;Description automatically generated"/>
          <p:cNvPicPr>
            <a:picLocks noChangeAspect="1"/>
          </p:cNvPicPr>
          <p:nvPr userDrawn="1"/>
        </p:nvPicPr>
        <p:blipFill rotWithShape="1">
          <a:blip r:embed="rId2" cstate="print">
            <a:extLst>
              <a:ext uri="{28A0092B-C50C-407E-A947-70E740481C1C}">
                <a14:useLocalDpi xmlns:a14="http://schemas.microsoft.com/office/drawing/2010/main" val="0"/>
              </a:ext>
            </a:extLst>
          </a:blip>
          <a:srcRect b="37988"/>
          <a:stretch>
            <a:fillRect/>
          </a:stretch>
        </p:blipFill>
        <p:spPr>
          <a:xfrm>
            <a:off x="10256520" y="0"/>
            <a:ext cx="2194560" cy="95626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B80835-DEB3-4275-B379-2566D87801AD}"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B80835-DEB3-4275-B379-2566D87801AD}"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B80835-DEB3-4275-B379-2566D87801AD}"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B80835-DEB3-4275-B379-2566D87801AD}"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B80835-DEB3-4275-B379-2566D87801AD}"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B80835-DEB3-4275-B379-2566D87801AD}"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B80835-DEB3-4275-B379-2566D87801AD}"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B80835-DEB3-4275-B379-2566D87801AD}"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B80835-DEB3-4275-B379-2566D87801AD}"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B80835-DEB3-4275-B379-2566D87801AD}"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B80835-DEB3-4275-B379-2566D87801AD}"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F95999-A99C-46D6-BFDA-AEFA180EA74F}"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F95999-A99C-46D6-BFDA-AEFA180EA74F}"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95999-A99C-46D6-BFDA-AEFA180EA74F}"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281ACE-890E-4B55-88CA-A440D73ED3A3}"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1BB8E-5703-4605-9BD4-B6282EF196A0}" type="slidenum">
              <a:rPr lang="en-US" smtClean="0"/>
              <a:t>‹#›</a:t>
            </a:fld>
            <a:endParaRPr lang="en-US"/>
          </a:p>
        </p:txBody>
      </p:sp>
      <p:pic>
        <p:nvPicPr>
          <p:cNvPr id="9" name="Picture 8" descr="Logo&#10;&#10;Description automatically generated"/>
          <p:cNvPicPr>
            <a:picLocks noChangeAspect="1"/>
          </p:cNvPicPr>
          <p:nvPr userDrawn="1"/>
        </p:nvPicPr>
        <p:blipFill rotWithShape="1">
          <a:blip r:embed="rId2" cstate="print">
            <a:extLst>
              <a:ext uri="{28A0092B-C50C-407E-A947-70E740481C1C}">
                <a14:useLocalDpi xmlns:a14="http://schemas.microsoft.com/office/drawing/2010/main" val="0"/>
              </a:ext>
            </a:extLst>
          </a:blip>
          <a:srcRect b="37988"/>
          <a:stretch>
            <a:fillRect/>
          </a:stretch>
        </p:blipFill>
        <p:spPr>
          <a:xfrm>
            <a:off x="10256520" y="0"/>
            <a:ext cx="2194560" cy="956268"/>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3049235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8980274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40893944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24502969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F95999-A99C-46D6-BFDA-AEFA180EA74F}"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2306599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F95999-A99C-46D6-BFDA-AEFA180EA74F}"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1256880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95999-A99C-46D6-BFDA-AEFA180EA74F}"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28876400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36844401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36417121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28566400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t>‹#›</a:t>
            </a:fld>
            <a:endParaRPr lang="en-US"/>
          </a:p>
        </p:txBody>
      </p:sp>
    </p:spTree>
    <p:extLst>
      <p:ext uri="{BB962C8B-B14F-4D97-AF65-F5344CB8AC3E}">
        <p14:creationId xmlns:p14="http://schemas.microsoft.com/office/powerpoint/2010/main" val="1582924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Futura Cyrillic Book" panose="020B0502020204020303" charset="0"/>
              </a:defRPr>
            </a:lvl1pPr>
          </a:lstStyle>
          <a:p>
            <a:fld id="{4EF95999-A99C-46D6-BFDA-AEFA180EA74F}" type="datetimeFigureOut">
              <a:rPr lang="en-US" smtClean="0"/>
              <a:t>2/3/2026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Futura Cyrillic Book" panose="020B0502020204020303" charset="0"/>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Futura Cyrillic Book" panose="020B0502020204020303" charset="0"/>
              </a:defRPr>
            </a:lvl1pPr>
          </a:lstStyle>
          <a:p>
            <a:fld id="{D1096927-E4BC-4077-9E7B-25FA85E7CDD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utura Cyrillic Book" panose="020B0502020204020303"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utura Cyrillic Book" panose="020B0502020204020303"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utura Cyrillic Book" panose="020B0502020204020303"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Futura Cyrillic Book" panose="020B0502020204020303" charset="0"/>
              </a:defRPr>
            </a:lvl1pPr>
          </a:lstStyle>
          <a:p>
            <a:fld id="{36B80835-DEB3-4275-B379-2566D87801AD}" type="datetimeFigureOut">
              <a:rPr lang="en-US" smtClean="0"/>
              <a:t>2/3/2026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Futura Cyrillic Book" panose="020B0502020204020303" charset="0"/>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Futura Cyrillic Book" panose="020B0502020204020303" charset="0"/>
              </a:defRPr>
            </a:lvl1pPr>
          </a:lstStyle>
          <a:p>
            <a:fld id="{8CA01822-BBE1-4BC5-B54E-43DAA9793F7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utura Cyrillic Book" panose="020B0502020204020303"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utura Cyrillic Book" panose="020B0502020204020303"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utura Cyrillic Book" panose="020B0502020204020303"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Futura Cyrillic Book" panose="020B0502020204020303" charset="0"/>
              </a:defRPr>
            </a:lvl1pPr>
          </a:lstStyle>
          <a:p>
            <a:fld id="{4EF95999-A99C-46D6-BFDA-AEFA180EA74F}" type="datetimeFigureOut">
              <a:rPr lang="en-US" smtClean="0"/>
              <a:t>2/3/2026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Futura Cyrillic Book" panose="020B0502020204020303" charset="0"/>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Futura Cyrillic Book" panose="020B0502020204020303" charset="0"/>
              </a:defRPr>
            </a:lvl1pPr>
          </a:lstStyle>
          <a:p>
            <a:fld id="{D1096927-E4BC-4077-9E7B-25FA85E7CDD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utura Cyrillic Book" panose="020B0502020204020303"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utura Cyrillic Book" panose="020B0502020204020303"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utura Cyrillic Book" panose="020B0502020204020303"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F95999-A99C-46D6-BFDA-AEFA180EA74F}" type="datetimeFigureOut">
              <a:rPr lang="en-US" smtClean="0"/>
              <a:t>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096927-E4BC-4077-9E7B-25FA85E7CDDE}" type="slidenum">
              <a:rPr lang="en-US" smtClean="0"/>
              <a:t>‹#›</a:t>
            </a:fld>
            <a:endParaRPr lang="en-US"/>
          </a:p>
        </p:txBody>
      </p:sp>
    </p:spTree>
    <p:extLst>
      <p:ext uri="{BB962C8B-B14F-4D97-AF65-F5344CB8AC3E}">
        <p14:creationId xmlns:p14="http://schemas.microsoft.com/office/powerpoint/2010/main" val="397724713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grpSp>
        <p:nvGrpSpPr>
          <p:cNvPr id="33" name="Group 32"/>
          <p:cNvGrpSpPr/>
          <p:nvPr/>
        </p:nvGrpSpPr>
        <p:grpSpPr>
          <a:xfrm>
            <a:off x="122050" y="1474470"/>
            <a:ext cx="2209165" cy="3067050"/>
            <a:chOff x="230" y="2322"/>
            <a:chExt cx="3479" cy="4830"/>
          </a:xfrm>
        </p:grpSpPr>
        <p:sp>
          <p:nvSpPr>
            <p:cNvPr id="34" name="Rectangle"/>
            <p:cNvSpPr/>
            <p:nvPr/>
          </p:nvSpPr>
          <p:spPr>
            <a:xfrm flipH="1">
              <a:off x="1099" y="2322"/>
              <a:ext cx="2611" cy="2465"/>
            </a:xfrm>
            <a:prstGeom prst="rect">
              <a:avLst/>
            </a:prstGeom>
            <a:solidFill>
              <a:schemeClr val="bg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35" name="Rectangle"/>
            <p:cNvSpPr/>
            <p:nvPr/>
          </p:nvSpPr>
          <p:spPr>
            <a:xfrm flipH="1">
              <a:off x="230" y="2624"/>
              <a:ext cx="3192" cy="4529"/>
            </a:xfrm>
            <a:prstGeom prst="rect">
              <a:avLst/>
            </a:prstGeom>
            <a:solidFill>
              <a:srgbClr val="58585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dirty="0"/>
            </a:p>
          </p:txBody>
        </p:sp>
        <p:pic>
          <p:nvPicPr>
            <p:cNvPr id="36" name="Image" descr="Image"/>
            <p:cNvPicPr>
              <a:picLocks noChangeAspect="1"/>
            </p:cNvPicPr>
            <p:nvPr/>
          </p:nvPicPr>
          <p:blipFill>
            <a:blip r:embed="rId2"/>
            <a:stretch>
              <a:fillRect/>
            </a:stretch>
          </p:blipFill>
          <p:spPr>
            <a:xfrm>
              <a:off x="987" y="3715"/>
              <a:ext cx="1683" cy="1805"/>
            </a:xfrm>
            <a:prstGeom prst="rect">
              <a:avLst/>
            </a:prstGeom>
            <a:ln w="12700">
              <a:miter lim="400000"/>
              <a:headEnd/>
              <a:tailEnd/>
            </a:ln>
          </p:spPr>
        </p:pic>
      </p:grpSp>
      <p:sp>
        <p:nvSpPr>
          <p:cNvPr id="14" name="TextBox 13"/>
          <p:cNvSpPr txBox="1"/>
          <p:nvPr/>
        </p:nvSpPr>
        <p:spPr>
          <a:xfrm>
            <a:off x="336000" y="3643668"/>
            <a:ext cx="1800000" cy="646331"/>
          </a:xfrm>
          <a:prstGeom prst="rect">
            <a:avLst/>
          </a:prstGeom>
          <a:noFill/>
        </p:spPr>
        <p:txBody>
          <a:bodyPr wrap="square" rtlCol="0">
            <a:spAutoFit/>
          </a:bodyPr>
          <a:lstStyle/>
          <a:p>
            <a:pPr algn="ctr"/>
            <a:r>
              <a:rPr lang="en-US" dirty="0"/>
              <a:t>   </a:t>
            </a:r>
            <a:r>
              <a:rPr lang="en-US" dirty="0">
                <a:solidFill>
                  <a:schemeClr val="bg1"/>
                </a:solidFill>
              </a:rPr>
              <a:t>Dept of  AI&amp;ML and CSE(DS)</a:t>
            </a:r>
          </a:p>
        </p:txBody>
      </p:sp>
      <p:sp>
        <p:nvSpPr>
          <p:cNvPr id="11" name="Rectangle 10"/>
          <p:cNvSpPr/>
          <p:nvPr/>
        </p:nvSpPr>
        <p:spPr>
          <a:xfrm>
            <a:off x="3251866" y="2610040"/>
            <a:ext cx="7778722" cy="1036438"/>
          </a:xfrm>
          <a:prstGeom prst="rect">
            <a:avLst/>
          </a:prstGeom>
        </p:spPr>
        <p:txBody>
          <a:bodyPr wrap="square">
            <a:spAutoFit/>
          </a:bodyPr>
          <a:lstStyle/>
          <a:p>
            <a:pPr algn="ctr">
              <a:lnSpc>
                <a:spcPct val="107000"/>
              </a:lnSpc>
              <a:spcAft>
                <a:spcPts val="800"/>
              </a:spcAft>
              <a:tabLst>
                <a:tab pos="3829050" algn="l"/>
              </a:tabLst>
            </a:pPr>
            <a:r>
              <a:rPr lang="en-US" sz="6000" b="1" dirty="0">
                <a:effectLst/>
                <a:ea typeface="Calibri" panose="020F0502020204030204" pitchFamily="34" charset="0"/>
                <a:cs typeface="Times New Roman" panose="02020603050405020304" pitchFamily="18" charset="0"/>
              </a:rPr>
              <a:t>MAJOR PROJECT IDEA</a:t>
            </a:r>
            <a:r>
              <a:rPr lang="en-US" sz="6000" b="1" dirty="0">
                <a:ea typeface="Calibri" panose="020F0502020204030204" pitchFamily="34" charset="0"/>
                <a:cs typeface="Times New Roman" panose="02020603050405020304" pitchFamily="18" charset="0"/>
              </a:rPr>
              <a:t>S</a:t>
            </a:r>
            <a:endParaRPr lang="en-US" sz="6600" dirty="0">
              <a:effectLst/>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grpSp>
        <p:nvGrpSpPr>
          <p:cNvPr id="33" name="Group 32"/>
          <p:cNvGrpSpPr/>
          <p:nvPr/>
        </p:nvGrpSpPr>
        <p:grpSpPr>
          <a:xfrm>
            <a:off x="122050" y="1474470"/>
            <a:ext cx="2209165" cy="3067050"/>
            <a:chOff x="230" y="2322"/>
            <a:chExt cx="3479" cy="4830"/>
          </a:xfrm>
        </p:grpSpPr>
        <p:sp>
          <p:nvSpPr>
            <p:cNvPr id="34" name="Rectangle"/>
            <p:cNvSpPr/>
            <p:nvPr/>
          </p:nvSpPr>
          <p:spPr>
            <a:xfrm flipH="1">
              <a:off x="1099" y="2322"/>
              <a:ext cx="2611" cy="2465"/>
            </a:xfrm>
            <a:prstGeom prst="rect">
              <a:avLst/>
            </a:prstGeom>
            <a:solidFill>
              <a:schemeClr val="bg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35" name="Rectangle"/>
            <p:cNvSpPr/>
            <p:nvPr/>
          </p:nvSpPr>
          <p:spPr>
            <a:xfrm flipH="1">
              <a:off x="230" y="2624"/>
              <a:ext cx="3192" cy="4529"/>
            </a:xfrm>
            <a:prstGeom prst="rect">
              <a:avLst/>
            </a:prstGeom>
            <a:solidFill>
              <a:srgbClr val="58585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dirty="0"/>
            </a:p>
          </p:txBody>
        </p:sp>
        <p:pic>
          <p:nvPicPr>
            <p:cNvPr id="36" name="Image" descr="Image"/>
            <p:cNvPicPr>
              <a:picLocks noChangeAspect="1"/>
            </p:cNvPicPr>
            <p:nvPr/>
          </p:nvPicPr>
          <p:blipFill>
            <a:blip r:embed="rId2"/>
            <a:stretch>
              <a:fillRect/>
            </a:stretch>
          </p:blipFill>
          <p:spPr>
            <a:xfrm>
              <a:off x="987" y="3715"/>
              <a:ext cx="1683" cy="1805"/>
            </a:xfrm>
            <a:prstGeom prst="rect">
              <a:avLst/>
            </a:prstGeom>
            <a:ln w="12700">
              <a:miter lim="400000"/>
              <a:headEnd/>
              <a:tailEnd/>
            </a:ln>
          </p:spPr>
        </p:pic>
      </p:grpSp>
      <p:sp>
        <p:nvSpPr>
          <p:cNvPr id="14" name="TextBox 13"/>
          <p:cNvSpPr txBox="1"/>
          <p:nvPr/>
        </p:nvSpPr>
        <p:spPr>
          <a:xfrm>
            <a:off x="336000" y="3643668"/>
            <a:ext cx="1800000" cy="646331"/>
          </a:xfrm>
          <a:prstGeom prst="rect">
            <a:avLst/>
          </a:prstGeom>
          <a:noFill/>
        </p:spPr>
        <p:txBody>
          <a:bodyPr wrap="square" rtlCol="0">
            <a:spAutoFit/>
          </a:bodyPr>
          <a:lstStyle/>
          <a:p>
            <a:pPr algn="ctr"/>
            <a:r>
              <a:rPr lang="en-US" dirty="0"/>
              <a:t> </a:t>
            </a:r>
            <a:r>
              <a:rPr lang="en-US" dirty="0">
                <a:solidFill>
                  <a:schemeClr val="bg1"/>
                </a:solidFill>
              </a:rPr>
              <a:t>Dept of AI&amp;ML and CSE(DS)</a:t>
            </a:r>
          </a:p>
        </p:txBody>
      </p:sp>
      <p:sp>
        <p:nvSpPr>
          <p:cNvPr id="4" name="Rectangle 3"/>
          <p:cNvSpPr/>
          <p:nvPr/>
        </p:nvSpPr>
        <p:spPr>
          <a:xfrm>
            <a:off x="2629665" y="1166840"/>
            <a:ext cx="8789365" cy="4524315"/>
          </a:xfrm>
          <a:prstGeom prst="rect">
            <a:avLst/>
          </a:prstGeom>
        </p:spPr>
        <p:txBody>
          <a:bodyPr wrap="square">
            <a:spAutoFit/>
          </a:bodyPr>
          <a:lstStyle/>
          <a:p>
            <a:r>
              <a:rPr lang="en-US" b="1" dirty="0"/>
              <a:t>1. Constrained Reinforcement Learning for Adaptive Configuration of FinTech Regulatory Sandboxes</a:t>
            </a:r>
            <a:endParaRPr lang="en-US" dirty="0"/>
          </a:p>
          <a:p>
            <a:br>
              <a:rPr lang="en-US" dirty="0"/>
            </a:br>
            <a:endParaRPr lang="en-US" dirty="0"/>
          </a:p>
          <a:p>
            <a:r>
              <a:rPr lang="en-US" b="1" dirty="0"/>
              <a:t>Problem Statement</a:t>
            </a:r>
            <a:endParaRPr lang="en-US" dirty="0"/>
          </a:p>
          <a:p>
            <a:br>
              <a:rPr lang="en-US" dirty="0"/>
            </a:br>
            <a:endParaRPr lang="en-US" dirty="0"/>
          </a:p>
          <a:p>
            <a:r>
              <a:rPr lang="en-US" dirty="0"/>
              <a:t>FinTech regulatory sandboxes rely on static, expert-defined testing parameters (exposure limits, participant caps, risk thresholds) that remain fixed throughout experimentation. This rigidity leads to inefficient innovation cycles or unnecessary consumer risk as system behavior evolves. There is currently no principled framework to </a:t>
            </a:r>
            <a:r>
              <a:rPr lang="en-US" b="1" dirty="0"/>
              <a:t>dynamically adapt sandbox parameters</a:t>
            </a:r>
            <a:r>
              <a:rPr lang="en-US" dirty="0"/>
              <a:t> while enforcing hard regulatory constraints on safety, fairness, and consumer impact. This project formulates sandbox governance as a constrained sequential decision problem and proposes a reinforcement learning approach that continuously optimizes testing parameters based on observed outcomes, without violating predefined regulatory boundaries.</a:t>
            </a:r>
          </a:p>
        </p:txBody>
      </p:sp>
    </p:spTree>
    <p:extLst>
      <p:ext uri="{BB962C8B-B14F-4D97-AF65-F5344CB8AC3E}">
        <p14:creationId xmlns:p14="http://schemas.microsoft.com/office/powerpoint/2010/main" val="102798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F53378-B53F-CD43-19A8-A6DF6DB6A3F4}"/>
            </a:ext>
          </a:extLst>
        </p:cNvPr>
        <p:cNvGrpSpPr/>
        <p:nvPr/>
      </p:nvGrpSpPr>
      <p:grpSpPr>
        <a:xfrm>
          <a:off x="0" y="0"/>
          <a:ext cx="0" cy="0"/>
          <a:chOff x="0" y="0"/>
          <a:chExt cx="0" cy="0"/>
        </a:xfrm>
      </p:grpSpPr>
      <p:sp>
        <p:nvSpPr>
          <p:cNvPr id="7" name="Google Shape;479;p12">
            <a:extLst>
              <a:ext uri="{FF2B5EF4-FFF2-40B4-BE49-F238E27FC236}">
                <a16:creationId xmlns:a16="http://schemas.microsoft.com/office/drawing/2014/main" id="{DB719DD5-91B8-CFBD-98FF-8E8CC5666FA5}"/>
              </a:ext>
            </a:extLst>
          </p:cNvPr>
          <p:cNvSpPr/>
          <p:nvPr/>
        </p:nvSpPr>
        <p:spPr>
          <a:xfrm flipH="1">
            <a:off x="-132676" y="0"/>
            <a:ext cx="2469463"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sp>
        <p:nvSpPr>
          <p:cNvPr id="8" name="Google Shape;480;p12">
            <a:extLst>
              <a:ext uri="{FF2B5EF4-FFF2-40B4-BE49-F238E27FC236}">
                <a16:creationId xmlns:a16="http://schemas.microsoft.com/office/drawing/2014/main" id="{EF65D918-3499-A797-3C89-AA5C8031220F}"/>
              </a:ext>
            </a:extLst>
          </p:cNvPr>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nvGrpSpPr>
          <p:cNvPr id="9" name="Google Shape;481;p12">
            <a:extLst>
              <a:ext uri="{FF2B5EF4-FFF2-40B4-BE49-F238E27FC236}">
                <a16:creationId xmlns:a16="http://schemas.microsoft.com/office/drawing/2014/main" id="{0433A34C-A3C1-DA46-DE6F-AA8E512779DE}"/>
              </a:ext>
            </a:extLst>
          </p:cNvPr>
          <p:cNvGrpSpPr/>
          <p:nvPr/>
        </p:nvGrpSpPr>
        <p:grpSpPr>
          <a:xfrm>
            <a:off x="179787" y="1269000"/>
            <a:ext cx="2209800" cy="3067685"/>
            <a:chOff x="230" y="2322"/>
            <a:chExt cx="3480" cy="4831"/>
          </a:xfrm>
        </p:grpSpPr>
        <p:sp>
          <p:nvSpPr>
            <p:cNvPr id="10" name="Google Shape;482;p12">
              <a:extLst>
                <a:ext uri="{FF2B5EF4-FFF2-40B4-BE49-F238E27FC236}">
                  <a16:creationId xmlns:a16="http://schemas.microsoft.com/office/drawing/2014/main" id="{EFC56440-BC94-7A1A-9571-AB59F194CDA9}"/>
                </a:ext>
              </a:extLst>
            </p:cNvPr>
            <p:cNvSpPr/>
            <p:nvPr/>
          </p:nvSpPr>
          <p:spPr>
            <a:xfrm flipH="1">
              <a:off x="1099" y="2322"/>
              <a:ext cx="2611" cy="2465"/>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sp>
          <p:nvSpPr>
            <p:cNvPr id="11" name="Google Shape;483;p12">
              <a:extLst>
                <a:ext uri="{FF2B5EF4-FFF2-40B4-BE49-F238E27FC236}">
                  <a16:creationId xmlns:a16="http://schemas.microsoft.com/office/drawing/2014/main" id="{B515905E-10D7-D4EF-A603-9B194435DD28}"/>
                </a:ext>
              </a:extLst>
            </p:cNvPr>
            <p:cNvSpPr/>
            <p:nvPr/>
          </p:nvSpPr>
          <p:spPr>
            <a:xfrm flipH="1">
              <a:off x="230" y="2624"/>
              <a:ext cx="3192" cy="4529"/>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pic>
          <p:nvPicPr>
            <p:cNvPr id="12" name="Google Shape;484;p12" descr="Image">
              <a:extLst>
                <a:ext uri="{FF2B5EF4-FFF2-40B4-BE49-F238E27FC236}">
                  <a16:creationId xmlns:a16="http://schemas.microsoft.com/office/drawing/2014/main" id="{486E209B-3D97-F187-1BDC-331BB13082B1}"/>
                </a:ext>
              </a:extLst>
            </p:cNvPr>
            <p:cNvPicPr preferRelativeResize="0"/>
            <p:nvPr/>
          </p:nvPicPr>
          <p:blipFill rotWithShape="1">
            <a:blip r:embed="rId2">
              <a:alphaModFix/>
            </a:blip>
            <a:srcRect/>
            <a:stretch/>
          </p:blipFill>
          <p:spPr>
            <a:xfrm>
              <a:off x="987" y="3715"/>
              <a:ext cx="1683" cy="1805"/>
            </a:xfrm>
            <a:prstGeom prst="rect">
              <a:avLst/>
            </a:prstGeom>
            <a:noFill/>
            <a:ln>
              <a:noFill/>
            </a:ln>
          </p:spPr>
        </p:pic>
      </p:grpSp>
      <p:sp>
        <p:nvSpPr>
          <p:cNvPr id="13" name="Google Shape;485;p12">
            <a:extLst>
              <a:ext uri="{FF2B5EF4-FFF2-40B4-BE49-F238E27FC236}">
                <a16:creationId xmlns:a16="http://schemas.microsoft.com/office/drawing/2014/main" id="{5F6EB8F4-161E-90EB-7BD0-27F6D4F53B28}"/>
              </a:ext>
            </a:extLst>
          </p:cNvPr>
          <p:cNvSpPr txBox="1"/>
          <p:nvPr/>
        </p:nvSpPr>
        <p:spPr>
          <a:xfrm>
            <a:off x="287639" y="3453226"/>
            <a:ext cx="1800000" cy="646290"/>
          </a:xfrm>
          <a:prstGeom prst="rect">
            <a:avLst/>
          </a:prstGeom>
          <a:noFill/>
          <a:ln>
            <a:noFill/>
          </a:ln>
        </p:spPr>
        <p:txBody>
          <a:bodyPr spcFirstLastPara="1" wrap="square" lIns="91425" tIns="45700" rIns="91425" bIns="45700" anchor="t" anchorCtr="0">
            <a:spAutoFit/>
          </a:bodyPr>
          <a:lstStyle/>
          <a:p>
            <a:pPr lvl="0" algn="ctr"/>
            <a:r>
              <a:rPr lang="en-US" dirty="0">
                <a:solidFill>
                  <a:schemeClr val="bg1"/>
                </a:solidFill>
              </a:rPr>
              <a:t>Dept of  AI&amp;ML and CSE(DS)</a:t>
            </a:r>
            <a:endParaRPr dirty="0"/>
          </a:p>
        </p:txBody>
      </p:sp>
      <p:sp>
        <p:nvSpPr>
          <p:cNvPr id="14" name="Google Shape;487;p12">
            <a:extLst>
              <a:ext uri="{FF2B5EF4-FFF2-40B4-BE49-F238E27FC236}">
                <a16:creationId xmlns:a16="http://schemas.microsoft.com/office/drawing/2014/main" id="{508DE36D-09F6-D1E6-8325-7DE3E07E4326}"/>
              </a:ext>
            </a:extLst>
          </p:cNvPr>
          <p:cNvSpPr/>
          <p:nvPr/>
        </p:nvSpPr>
        <p:spPr>
          <a:xfrm>
            <a:off x="3827463" y="17986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488;p12">
            <a:extLst>
              <a:ext uri="{FF2B5EF4-FFF2-40B4-BE49-F238E27FC236}">
                <a16:creationId xmlns:a16="http://schemas.microsoft.com/office/drawing/2014/main" id="{F49EE601-B748-02FA-AC98-7372BEF70D0E}"/>
              </a:ext>
            </a:extLst>
          </p:cNvPr>
          <p:cNvSpPr txBox="1"/>
          <p:nvPr/>
        </p:nvSpPr>
        <p:spPr>
          <a:xfrm>
            <a:off x="2568334" y="1098735"/>
            <a:ext cx="8744786" cy="4247276"/>
          </a:xfrm>
          <a:prstGeom prst="rect">
            <a:avLst/>
          </a:prstGeom>
          <a:noFill/>
          <a:ln>
            <a:noFill/>
          </a:ln>
        </p:spPr>
        <p:txBody>
          <a:bodyPr spcFirstLastPara="1" wrap="square" lIns="91425" tIns="45700" rIns="91425" bIns="45700" anchor="t" anchorCtr="0">
            <a:spAutoFit/>
          </a:bodyPr>
          <a:lstStyle/>
          <a:p>
            <a:r>
              <a:rPr lang="en-US" b="1" dirty="0"/>
              <a:t>2. AI-Driven Predictive Trust Scoring and Dispute Anticipation for Informal Digital Commerce in India</a:t>
            </a:r>
            <a:endParaRPr lang="en-US" dirty="0"/>
          </a:p>
          <a:p>
            <a:br>
              <a:rPr lang="en-US" dirty="0"/>
            </a:br>
            <a:endParaRPr lang="en-US" dirty="0"/>
          </a:p>
          <a:p>
            <a:r>
              <a:rPr lang="en-US" b="1" dirty="0"/>
              <a:t>Problem Statement</a:t>
            </a:r>
            <a:endParaRPr lang="en-US" dirty="0"/>
          </a:p>
          <a:p>
            <a:r>
              <a:rPr lang="en-US" dirty="0"/>
              <a:t>India’s rapid adoption of digital payments has enabled large-scale informal digital commerce through messaging platforms, social media marketplaces, and local service providers. These transactions typically occur without formal contracts, escrow mechanisms, standardized dispute resolution, or platform-level buyer protection. As a result, participants face a persistent trust deficit, leading to transaction disputes, payment reversals, non-delivery of goods or services, and breakdown of repeat interactions. Existing FinTech systems are largely reactive and designed for structured platforms, relying on explicit fraud labels, credit histories, or post-event monitoring, which are absent in informal contexts. The lack of proactive, transparent mechanisms to anticipate trust breakdown before transaction completion represents a critical gap in India’s digital financial ecosystem.</a:t>
            </a:r>
          </a:p>
        </p:txBody>
      </p:sp>
    </p:spTree>
    <p:extLst>
      <p:ext uri="{BB962C8B-B14F-4D97-AF65-F5344CB8AC3E}">
        <p14:creationId xmlns:p14="http://schemas.microsoft.com/office/powerpoint/2010/main" val="2260613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1131FB2-1FEB-331F-C797-703063953A72}"/>
            </a:ext>
          </a:extLst>
        </p:cNvPr>
        <p:cNvGrpSpPr/>
        <p:nvPr/>
      </p:nvGrpSpPr>
      <p:grpSpPr>
        <a:xfrm>
          <a:off x="0" y="0"/>
          <a:ext cx="0" cy="0"/>
          <a:chOff x="0" y="0"/>
          <a:chExt cx="0" cy="0"/>
        </a:xfrm>
      </p:grpSpPr>
      <p:sp>
        <p:nvSpPr>
          <p:cNvPr id="7" name="Google Shape;479;p12">
            <a:extLst>
              <a:ext uri="{FF2B5EF4-FFF2-40B4-BE49-F238E27FC236}">
                <a16:creationId xmlns:a16="http://schemas.microsoft.com/office/drawing/2014/main" id="{86026AB1-AC7A-569C-0DE9-72155822777D}"/>
              </a:ext>
            </a:extLst>
          </p:cNvPr>
          <p:cNvSpPr/>
          <p:nvPr/>
        </p:nvSpPr>
        <p:spPr>
          <a:xfrm flipH="1">
            <a:off x="-132676" y="0"/>
            <a:ext cx="2469463"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sp>
        <p:nvSpPr>
          <p:cNvPr id="8" name="Google Shape;480;p12">
            <a:extLst>
              <a:ext uri="{FF2B5EF4-FFF2-40B4-BE49-F238E27FC236}">
                <a16:creationId xmlns:a16="http://schemas.microsoft.com/office/drawing/2014/main" id="{7B18A3AC-983C-94B4-56DA-0439520728DE}"/>
              </a:ext>
            </a:extLst>
          </p:cNvPr>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nvGrpSpPr>
          <p:cNvPr id="9" name="Google Shape;481;p12">
            <a:extLst>
              <a:ext uri="{FF2B5EF4-FFF2-40B4-BE49-F238E27FC236}">
                <a16:creationId xmlns:a16="http://schemas.microsoft.com/office/drawing/2014/main" id="{A5A4320E-CE1A-67AF-293E-CFDAA60EDF9C}"/>
              </a:ext>
            </a:extLst>
          </p:cNvPr>
          <p:cNvGrpSpPr/>
          <p:nvPr/>
        </p:nvGrpSpPr>
        <p:grpSpPr>
          <a:xfrm>
            <a:off x="179787" y="1269000"/>
            <a:ext cx="2209800" cy="3067685"/>
            <a:chOff x="230" y="2322"/>
            <a:chExt cx="3480" cy="4831"/>
          </a:xfrm>
        </p:grpSpPr>
        <p:sp>
          <p:nvSpPr>
            <p:cNvPr id="10" name="Google Shape;482;p12">
              <a:extLst>
                <a:ext uri="{FF2B5EF4-FFF2-40B4-BE49-F238E27FC236}">
                  <a16:creationId xmlns:a16="http://schemas.microsoft.com/office/drawing/2014/main" id="{EF513509-5343-DA3E-135D-11E38339A857}"/>
                </a:ext>
              </a:extLst>
            </p:cNvPr>
            <p:cNvSpPr/>
            <p:nvPr/>
          </p:nvSpPr>
          <p:spPr>
            <a:xfrm flipH="1">
              <a:off x="1099" y="2322"/>
              <a:ext cx="2611" cy="2465"/>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sp>
          <p:nvSpPr>
            <p:cNvPr id="11" name="Google Shape;483;p12">
              <a:extLst>
                <a:ext uri="{FF2B5EF4-FFF2-40B4-BE49-F238E27FC236}">
                  <a16:creationId xmlns:a16="http://schemas.microsoft.com/office/drawing/2014/main" id="{8F809732-BCA1-FCD2-69A9-3C468514BE09}"/>
                </a:ext>
              </a:extLst>
            </p:cNvPr>
            <p:cNvSpPr/>
            <p:nvPr/>
          </p:nvSpPr>
          <p:spPr>
            <a:xfrm flipH="1">
              <a:off x="230" y="2624"/>
              <a:ext cx="3192" cy="4529"/>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pic>
          <p:nvPicPr>
            <p:cNvPr id="12" name="Google Shape;484;p12" descr="Image">
              <a:extLst>
                <a:ext uri="{FF2B5EF4-FFF2-40B4-BE49-F238E27FC236}">
                  <a16:creationId xmlns:a16="http://schemas.microsoft.com/office/drawing/2014/main" id="{F04A854C-CECC-3878-1CC7-49367E479315}"/>
                </a:ext>
              </a:extLst>
            </p:cNvPr>
            <p:cNvPicPr preferRelativeResize="0"/>
            <p:nvPr/>
          </p:nvPicPr>
          <p:blipFill rotWithShape="1">
            <a:blip r:embed="rId2">
              <a:alphaModFix/>
            </a:blip>
            <a:srcRect/>
            <a:stretch/>
          </p:blipFill>
          <p:spPr>
            <a:xfrm>
              <a:off x="987" y="3715"/>
              <a:ext cx="1683" cy="1805"/>
            </a:xfrm>
            <a:prstGeom prst="rect">
              <a:avLst/>
            </a:prstGeom>
            <a:noFill/>
            <a:ln>
              <a:noFill/>
            </a:ln>
          </p:spPr>
        </p:pic>
      </p:grpSp>
      <p:sp>
        <p:nvSpPr>
          <p:cNvPr id="13" name="Google Shape;485;p12">
            <a:extLst>
              <a:ext uri="{FF2B5EF4-FFF2-40B4-BE49-F238E27FC236}">
                <a16:creationId xmlns:a16="http://schemas.microsoft.com/office/drawing/2014/main" id="{D4D31090-3672-64C4-BA5F-352DDAB78965}"/>
              </a:ext>
            </a:extLst>
          </p:cNvPr>
          <p:cNvSpPr txBox="1"/>
          <p:nvPr/>
        </p:nvSpPr>
        <p:spPr>
          <a:xfrm>
            <a:off x="287639" y="3453226"/>
            <a:ext cx="1800000" cy="646290"/>
          </a:xfrm>
          <a:prstGeom prst="rect">
            <a:avLst/>
          </a:prstGeom>
          <a:noFill/>
          <a:ln>
            <a:noFill/>
          </a:ln>
        </p:spPr>
        <p:txBody>
          <a:bodyPr spcFirstLastPara="1" wrap="square" lIns="91425" tIns="45700" rIns="91425" bIns="45700" anchor="t" anchorCtr="0">
            <a:spAutoFit/>
          </a:bodyPr>
          <a:lstStyle/>
          <a:p>
            <a:pPr lvl="0" algn="ctr"/>
            <a:r>
              <a:rPr lang="en-US" dirty="0">
                <a:solidFill>
                  <a:schemeClr val="bg1"/>
                </a:solidFill>
              </a:rPr>
              <a:t>Dept of  AI&amp;ML and CSE(DS)</a:t>
            </a:r>
            <a:endParaRPr dirty="0"/>
          </a:p>
        </p:txBody>
      </p:sp>
      <p:sp>
        <p:nvSpPr>
          <p:cNvPr id="14" name="Google Shape;487;p12">
            <a:extLst>
              <a:ext uri="{FF2B5EF4-FFF2-40B4-BE49-F238E27FC236}">
                <a16:creationId xmlns:a16="http://schemas.microsoft.com/office/drawing/2014/main" id="{9A158EF2-20BF-F52E-0E57-E0BFA1BB06E4}"/>
              </a:ext>
            </a:extLst>
          </p:cNvPr>
          <p:cNvSpPr/>
          <p:nvPr/>
        </p:nvSpPr>
        <p:spPr>
          <a:xfrm>
            <a:off x="3827463" y="17986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488;p12">
            <a:extLst>
              <a:ext uri="{FF2B5EF4-FFF2-40B4-BE49-F238E27FC236}">
                <a16:creationId xmlns:a16="http://schemas.microsoft.com/office/drawing/2014/main" id="{8CB9646F-D919-E1F5-52BC-F8CD0D2ED060}"/>
              </a:ext>
            </a:extLst>
          </p:cNvPr>
          <p:cNvSpPr txBox="1"/>
          <p:nvPr/>
        </p:nvSpPr>
        <p:spPr>
          <a:xfrm>
            <a:off x="2519170" y="1098735"/>
            <a:ext cx="8793950" cy="3970277"/>
          </a:xfrm>
          <a:prstGeom prst="rect">
            <a:avLst/>
          </a:prstGeom>
          <a:noFill/>
          <a:ln>
            <a:noFill/>
          </a:ln>
        </p:spPr>
        <p:txBody>
          <a:bodyPr spcFirstLastPara="1" wrap="square" lIns="91425" tIns="45700" rIns="91425" bIns="45700" anchor="t" anchorCtr="0">
            <a:spAutoFit/>
          </a:bodyPr>
          <a:lstStyle/>
          <a:p>
            <a:r>
              <a:rPr lang="en-US" b="1" dirty="0"/>
              <a:t>3. Self-Evolving Financial Intelligence: An AGI-Inspired Approach to Decision Governance</a:t>
            </a:r>
            <a:endParaRPr lang="en-US" dirty="0"/>
          </a:p>
          <a:p>
            <a:br>
              <a:rPr lang="en-US" dirty="0"/>
            </a:br>
            <a:endParaRPr lang="en-US" dirty="0"/>
          </a:p>
          <a:p>
            <a:r>
              <a:rPr lang="en-US" b="1" dirty="0"/>
              <a:t>Problem Statement</a:t>
            </a:r>
            <a:endParaRPr lang="en-US" dirty="0"/>
          </a:p>
          <a:p>
            <a:r>
              <a:rPr lang="en-US" dirty="0"/>
              <a:t>Financial institutions increasingly rely on AI systems to support automated decision-making; however, most existing FinTech AI models are static, task-specific, and optimized only for predictive accuracy. Such systems struggle to remain effective under rapidly changing market conditions, evolving regulations, and shifting ethical expectations, leading to silent performance degradation and governance risks. There is currently no financial intelligence framework capable of continuously evaluating, critiquing, and adapting its own decision-making logic while maintaining explainability, regulatory compliance, and human oversight. The absence of adaptive, self-governing decision intelligence represents a critical limitation in deploying AI for long-term financial governance, particularly in dynamic and highly regulated environments such as India’s financial ecosystem.</a:t>
            </a:r>
          </a:p>
        </p:txBody>
      </p:sp>
    </p:spTree>
    <p:extLst>
      <p:ext uri="{BB962C8B-B14F-4D97-AF65-F5344CB8AC3E}">
        <p14:creationId xmlns:p14="http://schemas.microsoft.com/office/powerpoint/2010/main" val="64786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Google Shape;479;p12">
            <a:extLst>
              <a:ext uri="{FF2B5EF4-FFF2-40B4-BE49-F238E27FC236}">
                <a16:creationId xmlns:a16="http://schemas.microsoft.com/office/drawing/2014/main" id="{CC21D384-49C6-DE7F-B9A7-CC05D97C8EA3}"/>
              </a:ext>
            </a:extLst>
          </p:cNvPr>
          <p:cNvSpPr/>
          <p:nvPr/>
        </p:nvSpPr>
        <p:spPr>
          <a:xfrm flipH="1">
            <a:off x="-132676" y="0"/>
            <a:ext cx="2469463"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sp>
        <p:nvSpPr>
          <p:cNvPr id="8" name="Google Shape;480;p12">
            <a:extLst>
              <a:ext uri="{FF2B5EF4-FFF2-40B4-BE49-F238E27FC236}">
                <a16:creationId xmlns:a16="http://schemas.microsoft.com/office/drawing/2014/main" id="{A2265A8D-8B7B-4C2F-9BA1-88FCE4DD09A0}"/>
              </a:ext>
            </a:extLst>
          </p:cNvPr>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nvGrpSpPr>
          <p:cNvPr id="9" name="Google Shape;481;p12">
            <a:extLst>
              <a:ext uri="{FF2B5EF4-FFF2-40B4-BE49-F238E27FC236}">
                <a16:creationId xmlns:a16="http://schemas.microsoft.com/office/drawing/2014/main" id="{DCCFFA0C-81D9-ED0B-34BF-760DFA79B66B}"/>
              </a:ext>
            </a:extLst>
          </p:cNvPr>
          <p:cNvGrpSpPr/>
          <p:nvPr/>
        </p:nvGrpSpPr>
        <p:grpSpPr>
          <a:xfrm>
            <a:off x="179787" y="1269000"/>
            <a:ext cx="2209800" cy="3067685"/>
            <a:chOff x="230" y="2322"/>
            <a:chExt cx="3480" cy="4831"/>
          </a:xfrm>
        </p:grpSpPr>
        <p:sp>
          <p:nvSpPr>
            <p:cNvPr id="10" name="Google Shape;482;p12">
              <a:extLst>
                <a:ext uri="{FF2B5EF4-FFF2-40B4-BE49-F238E27FC236}">
                  <a16:creationId xmlns:a16="http://schemas.microsoft.com/office/drawing/2014/main" id="{A25C8A4E-7ACD-5BDF-6557-FD06852FF8B0}"/>
                </a:ext>
              </a:extLst>
            </p:cNvPr>
            <p:cNvSpPr/>
            <p:nvPr/>
          </p:nvSpPr>
          <p:spPr>
            <a:xfrm flipH="1">
              <a:off x="1099" y="2322"/>
              <a:ext cx="2611" cy="2465"/>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sp>
          <p:nvSpPr>
            <p:cNvPr id="11" name="Google Shape;483;p12">
              <a:extLst>
                <a:ext uri="{FF2B5EF4-FFF2-40B4-BE49-F238E27FC236}">
                  <a16:creationId xmlns:a16="http://schemas.microsoft.com/office/drawing/2014/main" id="{C49A8F0E-CF6D-210B-59F5-36AE6F9DC037}"/>
                </a:ext>
              </a:extLst>
            </p:cNvPr>
            <p:cNvSpPr/>
            <p:nvPr/>
          </p:nvSpPr>
          <p:spPr>
            <a:xfrm flipH="1">
              <a:off x="230" y="2624"/>
              <a:ext cx="3192" cy="4529"/>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pic>
          <p:nvPicPr>
            <p:cNvPr id="12" name="Google Shape;484;p12" descr="Image">
              <a:extLst>
                <a:ext uri="{FF2B5EF4-FFF2-40B4-BE49-F238E27FC236}">
                  <a16:creationId xmlns:a16="http://schemas.microsoft.com/office/drawing/2014/main" id="{06EEACCC-97DB-53CC-3D56-9407C441AFA0}"/>
                </a:ext>
              </a:extLst>
            </p:cNvPr>
            <p:cNvPicPr preferRelativeResize="0"/>
            <p:nvPr/>
          </p:nvPicPr>
          <p:blipFill rotWithShape="1">
            <a:blip r:embed="rId2">
              <a:alphaModFix/>
            </a:blip>
            <a:srcRect/>
            <a:stretch/>
          </p:blipFill>
          <p:spPr>
            <a:xfrm>
              <a:off x="987" y="3715"/>
              <a:ext cx="1683" cy="1805"/>
            </a:xfrm>
            <a:prstGeom prst="rect">
              <a:avLst/>
            </a:prstGeom>
            <a:noFill/>
            <a:ln>
              <a:noFill/>
            </a:ln>
          </p:spPr>
        </p:pic>
      </p:grpSp>
      <p:sp>
        <p:nvSpPr>
          <p:cNvPr id="13" name="Google Shape;485;p12">
            <a:extLst>
              <a:ext uri="{FF2B5EF4-FFF2-40B4-BE49-F238E27FC236}">
                <a16:creationId xmlns:a16="http://schemas.microsoft.com/office/drawing/2014/main" id="{63F345DA-F17F-A544-75C5-445CE21D6AD9}"/>
              </a:ext>
            </a:extLst>
          </p:cNvPr>
          <p:cNvSpPr txBox="1"/>
          <p:nvPr/>
        </p:nvSpPr>
        <p:spPr>
          <a:xfrm>
            <a:off x="287639" y="3453226"/>
            <a:ext cx="1800000" cy="646290"/>
          </a:xfrm>
          <a:prstGeom prst="rect">
            <a:avLst/>
          </a:prstGeom>
          <a:noFill/>
          <a:ln>
            <a:noFill/>
          </a:ln>
        </p:spPr>
        <p:txBody>
          <a:bodyPr spcFirstLastPara="1" wrap="square" lIns="91425" tIns="45700" rIns="91425" bIns="45700" anchor="t" anchorCtr="0">
            <a:spAutoFit/>
          </a:bodyPr>
          <a:lstStyle/>
          <a:p>
            <a:pPr lvl="0" algn="ctr"/>
            <a:r>
              <a:rPr lang="en-US" dirty="0">
                <a:solidFill>
                  <a:schemeClr val="bg1"/>
                </a:solidFill>
              </a:rPr>
              <a:t>Dept of  AI&amp;ML and CSE(DS)</a:t>
            </a:r>
            <a:endParaRPr dirty="0"/>
          </a:p>
        </p:txBody>
      </p:sp>
      <p:sp>
        <p:nvSpPr>
          <p:cNvPr id="14" name="Google Shape;487;p12">
            <a:extLst>
              <a:ext uri="{FF2B5EF4-FFF2-40B4-BE49-F238E27FC236}">
                <a16:creationId xmlns:a16="http://schemas.microsoft.com/office/drawing/2014/main" id="{F5E995FB-9A55-7BC2-893F-97551875881A}"/>
              </a:ext>
            </a:extLst>
          </p:cNvPr>
          <p:cNvSpPr/>
          <p:nvPr/>
        </p:nvSpPr>
        <p:spPr>
          <a:xfrm>
            <a:off x="3827463" y="17986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488;p12">
            <a:extLst>
              <a:ext uri="{FF2B5EF4-FFF2-40B4-BE49-F238E27FC236}">
                <a16:creationId xmlns:a16="http://schemas.microsoft.com/office/drawing/2014/main" id="{8F0E7041-C746-AD35-2C96-6BA34629CE72}"/>
              </a:ext>
            </a:extLst>
          </p:cNvPr>
          <p:cNvSpPr txBox="1"/>
          <p:nvPr/>
        </p:nvSpPr>
        <p:spPr>
          <a:xfrm>
            <a:off x="2568334" y="1176092"/>
            <a:ext cx="8797586" cy="3693278"/>
          </a:xfrm>
          <a:prstGeom prst="rect">
            <a:avLst/>
          </a:prstGeom>
          <a:noFill/>
          <a:ln>
            <a:noFill/>
          </a:ln>
        </p:spPr>
        <p:txBody>
          <a:bodyPr spcFirstLastPara="1" wrap="square" lIns="91425" tIns="45700" rIns="91425" bIns="45700" anchor="t" anchorCtr="0">
            <a:spAutoFit/>
          </a:bodyPr>
          <a:lstStyle/>
          <a:p>
            <a:r>
              <a:rPr lang="en-US" b="1" dirty="0"/>
              <a:t>4. AI-Driven Compliance Risk Monitoring for Automated Financial Decision Systems</a:t>
            </a:r>
            <a:endParaRPr lang="en-US" dirty="0"/>
          </a:p>
          <a:p>
            <a:br>
              <a:rPr lang="en-US" dirty="0"/>
            </a:br>
            <a:endParaRPr lang="en-US" dirty="0"/>
          </a:p>
          <a:p>
            <a:r>
              <a:rPr lang="en-US" b="1" dirty="0"/>
              <a:t>Problem Statement</a:t>
            </a:r>
            <a:endParaRPr lang="en-US" dirty="0"/>
          </a:p>
          <a:p>
            <a:r>
              <a:rPr lang="en-US" dirty="0"/>
              <a:t>FinTech platforms increasingly rely on automated decision systems for lending, onboarding, and transaction monitoring, yet regulatory compliance processes remain largely manual, retrospective, and fragmented. Regulators now expect </a:t>
            </a:r>
            <a:r>
              <a:rPr lang="en-US" b="1" dirty="0"/>
              <a:t>continuous compliance assurance</a:t>
            </a:r>
            <a:r>
              <a:rPr lang="en-US" dirty="0"/>
              <a:t>, not periodic audits. Existing systems lack a unified mechanism to detect emerging compliance risks across AML, KYC, and data-privacy domains in real time. This project proposes an AI-based compliance monitoring layer that aggregates operational logs, applies machine learning to flag regulatory risk patterns, and uses language models to generate explainable compliance reports and scenario simulations, enabling proactive regulatory governance.</a:t>
            </a:r>
          </a:p>
        </p:txBody>
      </p:sp>
    </p:spTree>
    <p:extLst>
      <p:ext uri="{BB962C8B-B14F-4D97-AF65-F5344CB8AC3E}">
        <p14:creationId xmlns:p14="http://schemas.microsoft.com/office/powerpoint/2010/main" val="856740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478"/>
        <p:cNvGrpSpPr/>
        <p:nvPr/>
      </p:nvGrpSpPr>
      <p:grpSpPr>
        <a:xfrm>
          <a:off x="0" y="0"/>
          <a:ext cx="0" cy="0"/>
          <a:chOff x="0" y="0"/>
          <a:chExt cx="0" cy="0"/>
        </a:xfrm>
      </p:grpSpPr>
      <p:sp>
        <p:nvSpPr>
          <p:cNvPr id="479" name="Google Shape;479;p12"/>
          <p:cNvSpPr/>
          <p:nvPr/>
        </p:nvSpPr>
        <p:spPr>
          <a:xfrm flipH="1">
            <a:off x="-24258" y="0"/>
            <a:ext cx="2469463"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sp>
        <p:nvSpPr>
          <p:cNvPr id="480" name="Google Shape;480;p12"/>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nvGrpSpPr>
          <p:cNvPr id="481" name="Google Shape;481;p12"/>
          <p:cNvGrpSpPr/>
          <p:nvPr/>
        </p:nvGrpSpPr>
        <p:grpSpPr>
          <a:xfrm>
            <a:off x="131417" y="1269000"/>
            <a:ext cx="2209800" cy="3067685"/>
            <a:chOff x="230" y="2322"/>
            <a:chExt cx="3480" cy="4831"/>
          </a:xfrm>
        </p:grpSpPr>
        <p:sp>
          <p:nvSpPr>
            <p:cNvPr id="482" name="Google Shape;482;p12"/>
            <p:cNvSpPr/>
            <p:nvPr/>
          </p:nvSpPr>
          <p:spPr>
            <a:xfrm flipH="1">
              <a:off x="1099" y="2322"/>
              <a:ext cx="2611" cy="2465"/>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sp>
          <p:nvSpPr>
            <p:cNvPr id="483" name="Google Shape;483;p12"/>
            <p:cNvSpPr/>
            <p:nvPr/>
          </p:nvSpPr>
          <p:spPr>
            <a:xfrm flipH="1">
              <a:off x="230" y="2624"/>
              <a:ext cx="3192" cy="4529"/>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pic>
          <p:nvPicPr>
            <p:cNvPr id="484" name="Google Shape;484;p12"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485" name="Google Shape;485;p12"/>
          <p:cNvSpPr txBox="1"/>
          <p:nvPr/>
        </p:nvSpPr>
        <p:spPr>
          <a:xfrm>
            <a:off x="191915" y="3342394"/>
            <a:ext cx="1800000" cy="646290"/>
          </a:xfrm>
          <a:prstGeom prst="rect">
            <a:avLst/>
          </a:prstGeom>
          <a:noFill/>
          <a:ln>
            <a:noFill/>
          </a:ln>
        </p:spPr>
        <p:txBody>
          <a:bodyPr spcFirstLastPara="1" wrap="square" lIns="91425" tIns="45700" rIns="91425" bIns="45700" anchor="t" anchorCtr="0">
            <a:spAutoFit/>
          </a:bodyPr>
          <a:lstStyle/>
          <a:p>
            <a:pPr lvl="0" algn="ctr"/>
            <a:r>
              <a:rPr lang="en-US" dirty="0">
                <a:solidFill>
                  <a:schemeClr val="bg1"/>
                </a:solidFill>
              </a:rPr>
              <a:t>Dept of  AI&amp;ML and CSE(DS)</a:t>
            </a:r>
            <a:endParaRPr dirty="0"/>
          </a:p>
        </p:txBody>
      </p:sp>
      <p:sp>
        <p:nvSpPr>
          <p:cNvPr id="487" name="Google Shape;487;p12"/>
          <p:cNvSpPr/>
          <p:nvPr/>
        </p:nvSpPr>
        <p:spPr>
          <a:xfrm>
            <a:off x="3827463" y="17986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8" name="Google Shape;488;p12"/>
          <p:cNvSpPr txBox="1"/>
          <p:nvPr/>
        </p:nvSpPr>
        <p:spPr>
          <a:xfrm>
            <a:off x="2639032" y="1460770"/>
            <a:ext cx="8856968" cy="3970277"/>
          </a:xfrm>
          <a:prstGeom prst="rect">
            <a:avLst/>
          </a:prstGeom>
          <a:noFill/>
          <a:ln>
            <a:noFill/>
          </a:ln>
        </p:spPr>
        <p:txBody>
          <a:bodyPr spcFirstLastPara="1" wrap="square" lIns="91425" tIns="45700" rIns="91425" bIns="45700" anchor="t" anchorCtr="0">
            <a:spAutoFit/>
          </a:bodyPr>
          <a:lstStyle/>
          <a:p>
            <a:r>
              <a:rPr lang="en-US" b="1" dirty="0"/>
              <a:t>5. Continuous Transaction Authentication Using Real-Time Behavioral Biometrics</a:t>
            </a:r>
            <a:endParaRPr lang="en-US" dirty="0"/>
          </a:p>
          <a:p>
            <a:br>
              <a:rPr lang="en-US" dirty="0"/>
            </a:br>
            <a:endParaRPr lang="en-US" dirty="0"/>
          </a:p>
          <a:p>
            <a:r>
              <a:rPr lang="en-US" b="1" dirty="0"/>
              <a:t>Problem Statement</a:t>
            </a:r>
            <a:endParaRPr lang="en-US" dirty="0"/>
          </a:p>
          <a:p>
            <a:r>
              <a:rPr lang="en-US" dirty="0"/>
              <a:t>Most digital fraud detection systems rely solely on transaction metadata, leading to either high false positives or intrusive step-up authentication mechanisms. Behavioral biometrics (keystroke dynamics, touch pressure, device motion) offer continuous, low-friction identity signals, but lack a deployable, privacy-aware integration framework within financial systems. Current research focuses on isolated models rather than end-to-end operational pipelines. This project develops a secure, production-grade behavioral authentication system using temporal deep learning models, integrated with risk-based access controls and adversarial robustness testing, enabling continuous authentication with minimal user friction.</a:t>
            </a:r>
          </a:p>
          <a:p>
            <a:br>
              <a:rPr lang="en-US" dirty="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grpSp>
        <p:nvGrpSpPr>
          <p:cNvPr id="33" name="Group 32"/>
          <p:cNvGrpSpPr/>
          <p:nvPr/>
        </p:nvGrpSpPr>
        <p:grpSpPr>
          <a:xfrm>
            <a:off x="122050" y="1474470"/>
            <a:ext cx="2209165" cy="3067050"/>
            <a:chOff x="230" y="2322"/>
            <a:chExt cx="3479" cy="4830"/>
          </a:xfrm>
        </p:grpSpPr>
        <p:sp>
          <p:nvSpPr>
            <p:cNvPr id="34" name="Rectangle"/>
            <p:cNvSpPr/>
            <p:nvPr/>
          </p:nvSpPr>
          <p:spPr>
            <a:xfrm flipH="1">
              <a:off x="1099" y="2322"/>
              <a:ext cx="2611" cy="2465"/>
            </a:xfrm>
            <a:prstGeom prst="rect">
              <a:avLst/>
            </a:prstGeom>
            <a:solidFill>
              <a:schemeClr val="bg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35" name="Rectangle"/>
            <p:cNvSpPr/>
            <p:nvPr/>
          </p:nvSpPr>
          <p:spPr>
            <a:xfrm flipH="1">
              <a:off x="230" y="2624"/>
              <a:ext cx="3192" cy="4529"/>
            </a:xfrm>
            <a:prstGeom prst="rect">
              <a:avLst/>
            </a:prstGeom>
            <a:solidFill>
              <a:srgbClr val="58585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dirty="0"/>
            </a:p>
          </p:txBody>
        </p:sp>
        <p:pic>
          <p:nvPicPr>
            <p:cNvPr id="36" name="Image" descr="Image"/>
            <p:cNvPicPr>
              <a:picLocks noChangeAspect="1"/>
            </p:cNvPicPr>
            <p:nvPr/>
          </p:nvPicPr>
          <p:blipFill>
            <a:blip r:embed="rId2"/>
            <a:stretch>
              <a:fillRect/>
            </a:stretch>
          </p:blipFill>
          <p:spPr>
            <a:xfrm>
              <a:off x="987" y="3715"/>
              <a:ext cx="1683" cy="1805"/>
            </a:xfrm>
            <a:prstGeom prst="rect">
              <a:avLst/>
            </a:prstGeom>
            <a:ln w="12700">
              <a:miter lim="400000"/>
              <a:headEnd/>
              <a:tailEnd/>
            </a:ln>
          </p:spPr>
        </p:pic>
      </p:grpSp>
      <p:sp>
        <p:nvSpPr>
          <p:cNvPr id="14" name="TextBox 13"/>
          <p:cNvSpPr txBox="1"/>
          <p:nvPr/>
        </p:nvSpPr>
        <p:spPr>
          <a:xfrm>
            <a:off x="336000" y="3643668"/>
            <a:ext cx="1800000" cy="646331"/>
          </a:xfrm>
          <a:prstGeom prst="rect">
            <a:avLst/>
          </a:prstGeom>
          <a:noFill/>
        </p:spPr>
        <p:txBody>
          <a:bodyPr wrap="square" rtlCol="0">
            <a:spAutoFit/>
          </a:bodyPr>
          <a:lstStyle/>
          <a:p>
            <a:pPr algn="ctr"/>
            <a:r>
              <a:rPr lang="en-US" dirty="0"/>
              <a:t> </a:t>
            </a:r>
            <a:r>
              <a:rPr lang="en-US" dirty="0">
                <a:solidFill>
                  <a:schemeClr val="bg1"/>
                </a:solidFill>
              </a:rPr>
              <a:t>Dept of  AI&amp;ML and CSE(DS)</a:t>
            </a:r>
          </a:p>
        </p:txBody>
      </p:sp>
      <p:sp>
        <p:nvSpPr>
          <p:cNvPr id="4" name="Rectangle 3"/>
          <p:cNvSpPr/>
          <p:nvPr/>
        </p:nvSpPr>
        <p:spPr>
          <a:xfrm>
            <a:off x="2665194" y="1666240"/>
            <a:ext cx="8675752" cy="3416320"/>
          </a:xfrm>
          <a:prstGeom prst="rect">
            <a:avLst/>
          </a:prstGeom>
        </p:spPr>
        <p:txBody>
          <a:bodyPr wrap="square">
            <a:spAutoFit/>
          </a:bodyPr>
          <a:lstStyle/>
          <a:p>
            <a:r>
              <a:rPr lang="en-US" b="1" dirty="0"/>
              <a:t>6. Multi-Source Alternative Credit Scoring Using Cross-Platform Behavioral Data Fusion</a:t>
            </a:r>
            <a:endParaRPr lang="en-US" dirty="0"/>
          </a:p>
          <a:p>
            <a:br>
              <a:rPr lang="en-US" dirty="0"/>
            </a:br>
            <a:endParaRPr lang="en-US" dirty="0"/>
          </a:p>
          <a:p>
            <a:r>
              <a:rPr lang="en-US" b="1" dirty="0"/>
              <a:t> Problem Statement</a:t>
            </a:r>
            <a:endParaRPr lang="en-US" dirty="0"/>
          </a:p>
          <a:p>
            <a:r>
              <a:rPr lang="en-US" dirty="0"/>
              <a:t>Traditional credit scoring systems rely heavily on banking and bureau data, systematically excluding thin-file and underbanked populations. Existing alternative credit models typically use </a:t>
            </a:r>
            <a:r>
              <a:rPr lang="en-US" b="1" dirty="0"/>
              <a:t>single non-bank data sources</a:t>
            </a:r>
            <a:r>
              <a:rPr lang="en-US" dirty="0"/>
              <a:t> (e.g., mobile usage </a:t>
            </a:r>
            <a:r>
              <a:rPr lang="en-US" i="1" dirty="0"/>
              <a:t>*or*</a:t>
            </a:r>
            <a:r>
              <a:rPr lang="en-US" dirty="0"/>
              <a:t> e-commerce history), resulting in biased risk estimation and limited predictive power. There is no rigorous evaluation of </a:t>
            </a:r>
            <a:r>
              <a:rPr lang="en-US" b="1" dirty="0"/>
              <a:t>multi-source behavioral feature fusion</a:t>
            </a:r>
            <a:r>
              <a:rPr lang="en-US" dirty="0"/>
              <a:t> and its impact on </a:t>
            </a:r>
            <a:r>
              <a:rPr lang="en-US" b="1" dirty="0"/>
              <a:t>accuracy, stability, and fairness</a:t>
            </a:r>
            <a:r>
              <a:rPr lang="en-US" dirty="0"/>
              <a:t> in creditworthiness prediction. This project addresses this gap by designing an ensemble machine learning framework that integrates heterogeneous behavioral data across platforms to produce more robust, explainable, and equitable credit scores.</a:t>
            </a:r>
          </a:p>
        </p:txBody>
      </p:sp>
    </p:spTree>
    <p:extLst>
      <p:ext uri="{BB962C8B-B14F-4D97-AF65-F5344CB8AC3E}">
        <p14:creationId xmlns:p14="http://schemas.microsoft.com/office/powerpoint/2010/main" val="1224294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37AD78-FC61-22D2-0297-EFE3831F8CCB}"/>
            </a:ext>
          </a:extLst>
        </p:cNvPr>
        <p:cNvGrpSpPr/>
        <p:nvPr/>
      </p:nvGrpSpPr>
      <p:grpSpPr>
        <a:xfrm>
          <a:off x="0" y="0"/>
          <a:ext cx="0" cy="0"/>
          <a:chOff x="0" y="0"/>
          <a:chExt cx="0" cy="0"/>
        </a:xfrm>
      </p:grpSpPr>
      <p:sp>
        <p:nvSpPr>
          <p:cNvPr id="7" name="Google Shape;479;p12">
            <a:extLst>
              <a:ext uri="{FF2B5EF4-FFF2-40B4-BE49-F238E27FC236}">
                <a16:creationId xmlns:a16="http://schemas.microsoft.com/office/drawing/2014/main" id="{C15175A7-9AB0-937B-7DE4-10797EA41688}"/>
              </a:ext>
            </a:extLst>
          </p:cNvPr>
          <p:cNvSpPr/>
          <p:nvPr/>
        </p:nvSpPr>
        <p:spPr>
          <a:xfrm flipH="1">
            <a:off x="-132676" y="0"/>
            <a:ext cx="2469463"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sp>
        <p:nvSpPr>
          <p:cNvPr id="8" name="Google Shape;480;p12">
            <a:extLst>
              <a:ext uri="{FF2B5EF4-FFF2-40B4-BE49-F238E27FC236}">
                <a16:creationId xmlns:a16="http://schemas.microsoft.com/office/drawing/2014/main" id="{4C782DEB-CEE8-AD6A-AF41-40495952CCAA}"/>
              </a:ext>
            </a:extLst>
          </p:cNvPr>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nvGrpSpPr>
          <p:cNvPr id="9" name="Google Shape;481;p12">
            <a:extLst>
              <a:ext uri="{FF2B5EF4-FFF2-40B4-BE49-F238E27FC236}">
                <a16:creationId xmlns:a16="http://schemas.microsoft.com/office/drawing/2014/main" id="{7BC13C4B-F4BB-D9F7-E455-5ABBB84F133B}"/>
              </a:ext>
            </a:extLst>
          </p:cNvPr>
          <p:cNvGrpSpPr/>
          <p:nvPr/>
        </p:nvGrpSpPr>
        <p:grpSpPr>
          <a:xfrm>
            <a:off x="179787" y="1269000"/>
            <a:ext cx="2209800" cy="3067685"/>
            <a:chOff x="230" y="2322"/>
            <a:chExt cx="3480" cy="4831"/>
          </a:xfrm>
        </p:grpSpPr>
        <p:sp>
          <p:nvSpPr>
            <p:cNvPr id="10" name="Google Shape;482;p12">
              <a:extLst>
                <a:ext uri="{FF2B5EF4-FFF2-40B4-BE49-F238E27FC236}">
                  <a16:creationId xmlns:a16="http://schemas.microsoft.com/office/drawing/2014/main" id="{ED66DEC3-7851-2D80-3247-62C157F52BC8}"/>
                </a:ext>
              </a:extLst>
            </p:cNvPr>
            <p:cNvSpPr/>
            <p:nvPr/>
          </p:nvSpPr>
          <p:spPr>
            <a:xfrm flipH="1">
              <a:off x="1099" y="2322"/>
              <a:ext cx="2611" cy="2465"/>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sp>
          <p:nvSpPr>
            <p:cNvPr id="11" name="Google Shape;483;p12">
              <a:extLst>
                <a:ext uri="{FF2B5EF4-FFF2-40B4-BE49-F238E27FC236}">
                  <a16:creationId xmlns:a16="http://schemas.microsoft.com/office/drawing/2014/main" id="{A5C48538-1CCA-277C-83F0-1400ACC9DC49}"/>
                </a:ext>
              </a:extLst>
            </p:cNvPr>
            <p:cNvSpPr/>
            <p:nvPr/>
          </p:nvSpPr>
          <p:spPr>
            <a:xfrm flipH="1">
              <a:off x="230" y="2624"/>
              <a:ext cx="3192" cy="4529"/>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pic>
          <p:nvPicPr>
            <p:cNvPr id="12" name="Google Shape;484;p12" descr="Image">
              <a:extLst>
                <a:ext uri="{FF2B5EF4-FFF2-40B4-BE49-F238E27FC236}">
                  <a16:creationId xmlns:a16="http://schemas.microsoft.com/office/drawing/2014/main" id="{7B2DBBFE-C3B3-C100-F6DD-D303E9F53938}"/>
                </a:ext>
              </a:extLst>
            </p:cNvPr>
            <p:cNvPicPr preferRelativeResize="0"/>
            <p:nvPr/>
          </p:nvPicPr>
          <p:blipFill rotWithShape="1">
            <a:blip r:embed="rId2">
              <a:alphaModFix/>
            </a:blip>
            <a:srcRect/>
            <a:stretch/>
          </p:blipFill>
          <p:spPr>
            <a:xfrm>
              <a:off x="987" y="3715"/>
              <a:ext cx="1683" cy="1805"/>
            </a:xfrm>
            <a:prstGeom prst="rect">
              <a:avLst/>
            </a:prstGeom>
            <a:noFill/>
            <a:ln>
              <a:noFill/>
            </a:ln>
          </p:spPr>
        </p:pic>
      </p:grpSp>
      <p:sp>
        <p:nvSpPr>
          <p:cNvPr id="13" name="Google Shape;485;p12">
            <a:extLst>
              <a:ext uri="{FF2B5EF4-FFF2-40B4-BE49-F238E27FC236}">
                <a16:creationId xmlns:a16="http://schemas.microsoft.com/office/drawing/2014/main" id="{C128C343-544A-3756-CF10-0724448B6D67}"/>
              </a:ext>
            </a:extLst>
          </p:cNvPr>
          <p:cNvSpPr txBox="1"/>
          <p:nvPr/>
        </p:nvSpPr>
        <p:spPr>
          <a:xfrm>
            <a:off x="287639" y="3453226"/>
            <a:ext cx="1800000" cy="646290"/>
          </a:xfrm>
          <a:prstGeom prst="rect">
            <a:avLst/>
          </a:prstGeom>
          <a:noFill/>
          <a:ln>
            <a:noFill/>
          </a:ln>
        </p:spPr>
        <p:txBody>
          <a:bodyPr spcFirstLastPara="1" wrap="square" lIns="91425" tIns="45700" rIns="91425" bIns="45700" anchor="t" anchorCtr="0">
            <a:spAutoFit/>
          </a:bodyPr>
          <a:lstStyle/>
          <a:p>
            <a:pPr lvl="0" algn="ctr"/>
            <a:r>
              <a:rPr lang="en-US" dirty="0">
                <a:solidFill>
                  <a:schemeClr val="bg1"/>
                </a:solidFill>
              </a:rPr>
              <a:t>Dept of  AI&amp;ML and CSE(DS)</a:t>
            </a:r>
            <a:endParaRPr dirty="0"/>
          </a:p>
        </p:txBody>
      </p:sp>
      <p:sp>
        <p:nvSpPr>
          <p:cNvPr id="14" name="Google Shape;487;p12">
            <a:extLst>
              <a:ext uri="{FF2B5EF4-FFF2-40B4-BE49-F238E27FC236}">
                <a16:creationId xmlns:a16="http://schemas.microsoft.com/office/drawing/2014/main" id="{DDF7C53B-EF79-D7B1-2886-639857BAD6A3}"/>
              </a:ext>
            </a:extLst>
          </p:cNvPr>
          <p:cNvSpPr/>
          <p:nvPr/>
        </p:nvSpPr>
        <p:spPr>
          <a:xfrm>
            <a:off x="3827463" y="17986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488;p12">
            <a:extLst>
              <a:ext uri="{FF2B5EF4-FFF2-40B4-BE49-F238E27FC236}">
                <a16:creationId xmlns:a16="http://schemas.microsoft.com/office/drawing/2014/main" id="{B777299A-DCF6-751D-F9A7-6574FFEFCF82}"/>
              </a:ext>
            </a:extLst>
          </p:cNvPr>
          <p:cNvSpPr txBox="1"/>
          <p:nvPr/>
        </p:nvSpPr>
        <p:spPr>
          <a:xfrm>
            <a:off x="2817482" y="1329588"/>
            <a:ext cx="8429370" cy="3416279"/>
          </a:xfrm>
          <a:prstGeom prst="rect">
            <a:avLst/>
          </a:prstGeom>
          <a:noFill/>
          <a:ln>
            <a:noFill/>
          </a:ln>
        </p:spPr>
        <p:txBody>
          <a:bodyPr spcFirstLastPara="1" wrap="square" lIns="91425" tIns="45700" rIns="91425" bIns="45700" anchor="t" anchorCtr="0">
            <a:spAutoFit/>
          </a:bodyPr>
          <a:lstStyle/>
          <a:p>
            <a:r>
              <a:rPr lang="en-IN" b="1" dirty="0"/>
              <a:t>7.Agentic-XAI Credit Approval Engine (AX-CREDIT)</a:t>
            </a:r>
            <a:endParaRPr lang="en-IN" dirty="0"/>
          </a:p>
          <a:p>
            <a:br>
              <a:rPr lang="en-IN" dirty="0"/>
            </a:br>
            <a:endParaRPr lang="en-IN" dirty="0"/>
          </a:p>
          <a:p>
            <a:r>
              <a:rPr lang="en-IN" b="1" dirty="0"/>
              <a:t>Problem Statement</a:t>
            </a:r>
            <a:endParaRPr lang="en-IN" dirty="0"/>
          </a:p>
          <a:p>
            <a:r>
              <a:rPr lang="en-IN" dirty="0"/>
              <a:t>Business Context: RBI's 2026 Digital Lending Guidelines mandate explainable AI for all credit decisions affecting 400M+ subprime Indians, yet 68% loan applications get rejected by black-box ML models due to opacity. Banks lose ₹15,000Cr annually in untapped credit while facing regulatory fines for non-</a:t>
            </a:r>
            <a:r>
              <a:rPr lang="en-IN" dirty="0" err="1"/>
              <a:t>compliance.Technical</a:t>
            </a:r>
            <a:r>
              <a:rPr lang="en-IN" dirty="0"/>
              <a:t> Problem: Build a production-grade, multi-agent credit decisioning system that processes 50M decisions/day with:94% AUC default prediction accuracy87% XAI compliance score (RBI-mandated explainability)&lt;500ms end-to-end latency (p95)99.99% uptime during salary crediting peaks (2-3 PM IST)</a:t>
            </a:r>
          </a:p>
        </p:txBody>
      </p:sp>
    </p:spTree>
    <p:extLst>
      <p:ext uri="{BB962C8B-B14F-4D97-AF65-F5344CB8AC3E}">
        <p14:creationId xmlns:p14="http://schemas.microsoft.com/office/powerpoint/2010/main" val="103461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grpSp>
        <p:nvGrpSpPr>
          <p:cNvPr id="33" name="Group 32"/>
          <p:cNvGrpSpPr/>
          <p:nvPr/>
        </p:nvGrpSpPr>
        <p:grpSpPr>
          <a:xfrm>
            <a:off x="122050" y="1474470"/>
            <a:ext cx="2209165" cy="3067050"/>
            <a:chOff x="230" y="2322"/>
            <a:chExt cx="3479" cy="4830"/>
          </a:xfrm>
        </p:grpSpPr>
        <p:sp>
          <p:nvSpPr>
            <p:cNvPr id="34" name="Rectangle"/>
            <p:cNvSpPr/>
            <p:nvPr/>
          </p:nvSpPr>
          <p:spPr>
            <a:xfrm flipH="1">
              <a:off x="1099" y="2322"/>
              <a:ext cx="2611" cy="2465"/>
            </a:xfrm>
            <a:prstGeom prst="rect">
              <a:avLst/>
            </a:prstGeom>
            <a:solidFill>
              <a:schemeClr val="bg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35" name="Rectangle"/>
            <p:cNvSpPr/>
            <p:nvPr/>
          </p:nvSpPr>
          <p:spPr>
            <a:xfrm flipH="1">
              <a:off x="230" y="2624"/>
              <a:ext cx="3192" cy="4529"/>
            </a:xfrm>
            <a:prstGeom prst="rect">
              <a:avLst/>
            </a:prstGeom>
            <a:solidFill>
              <a:srgbClr val="58585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dirty="0"/>
            </a:p>
          </p:txBody>
        </p:sp>
        <p:pic>
          <p:nvPicPr>
            <p:cNvPr id="36" name="Image" descr="Image"/>
            <p:cNvPicPr>
              <a:picLocks noChangeAspect="1"/>
            </p:cNvPicPr>
            <p:nvPr/>
          </p:nvPicPr>
          <p:blipFill>
            <a:blip r:embed="rId2"/>
            <a:stretch>
              <a:fillRect/>
            </a:stretch>
          </p:blipFill>
          <p:spPr>
            <a:xfrm>
              <a:off x="987" y="3715"/>
              <a:ext cx="1683" cy="1805"/>
            </a:xfrm>
            <a:prstGeom prst="rect">
              <a:avLst/>
            </a:prstGeom>
            <a:ln w="12700">
              <a:miter lim="400000"/>
              <a:headEnd/>
              <a:tailEnd/>
            </a:ln>
          </p:spPr>
        </p:pic>
      </p:grpSp>
      <p:sp>
        <p:nvSpPr>
          <p:cNvPr id="14" name="TextBox 13"/>
          <p:cNvSpPr txBox="1"/>
          <p:nvPr/>
        </p:nvSpPr>
        <p:spPr>
          <a:xfrm>
            <a:off x="336000" y="3643668"/>
            <a:ext cx="1800000" cy="646331"/>
          </a:xfrm>
          <a:prstGeom prst="rect">
            <a:avLst/>
          </a:prstGeom>
          <a:noFill/>
        </p:spPr>
        <p:txBody>
          <a:bodyPr wrap="square" rtlCol="0">
            <a:spAutoFit/>
          </a:bodyPr>
          <a:lstStyle/>
          <a:p>
            <a:pPr algn="ctr"/>
            <a:r>
              <a:rPr lang="en-US" dirty="0">
                <a:solidFill>
                  <a:schemeClr val="bg1"/>
                </a:solidFill>
              </a:rPr>
              <a:t>Dept of  AI&amp;ML and CSE(DS)</a:t>
            </a:r>
          </a:p>
        </p:txBody>
      </p:sp>
      <p:sp>
        <p:nvSpPr>
          <p:cNvPr id="2" name="Rectangle 1">
            <a:extLst>
              <a:ext uri="{FF2B5EF4-FFF2-40B4-BE49-F238E27FC236}">
                <a16:creationId xmlns:a16="http://schemas.microsoft.com/office/drawing/2014/main" id="{3E17E243-9F7F-99B6-C5F6-6685EBC4B61F}"/>
              </a:ext>
            </a:extLst>
          </p:cNvPr>
          <p:cNvSpPr>
            <a:spLocks noChangeArrowheads="1"/>
          </p:cNvSpPr>
          <p:nvPr/>
        </p:nvSpPr>
        <p:spPr bwMode="auto">
          <a:xfrm>
            <a:off x="2700785" y="1443838"/>
            <a:ext cx="857649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8. Privacy-Preserving Decentralized Detection of Cross-Institution Money Laundering Networks</a:t>
            </a:r>
            <a:endParaRPr lang="en-US" dirty="0"/>
          </a:p>
          <a:p>
            <a:br>
              <a:rPr lang="en-US" dirty="0"/>
            </a:br>
            <a:endParaRPr lang="en-US" dirty="0"/>
          </a:p>
          <a:p>
            <a:r>
              <a:rPr lang="en-US" b="1" dirty="0"/>
              <a:t>Problem Statement</a:t>
            </a:r>
            <a:endParaRPr lang="en-US" dirty="0"/>
          </a:p>
          <a:p>
            <a:r>
              <a:rPr lang="en-US" dirty="0"/>
              <a:t>Money laundering techniques such as </a:t>
            </a:r>
            <a:r>
              <a:rPr lang="en-US" i="1" dirty="0"/>
              <a:t>*smurfing*</a:t>
            </a:r>
            <a:r>
              <a:rPr lang="en-US" dirty="0"/>
              <a:t> and </a:t>
            </a:r>
            <a:r>
              <a:rPr lang="en-US" i="1" dirty="0"/>
              <a:t>*layering*</a:t>
            </a:r>
            <a:r>
              <a:rPr lang="en-US" dirty="0"/>
              <a:t> deliberately distribute illicit transactions across multiple financial institutions, rendering siloed Anti-Money Laundering (AML) systems ineffective. Regulatory constraints (GDPR, DPDP Act) and competitive boundaries prevent banks from sharing raw transactional data, creating a structural blind spot in fraud detection. Existing AML models fail to detect </a:t>
            </a:r>
            <a:r>
              <a:rPr lang="en-US" b="1" dirty="0"/>
              <a:t>cross-institutional relational patterns</a:t>
            </a:r>
            <a:r>
              <a:rPr lang="en-US" dirty="0"/>
              <a:t> under these constraints. This project proposes a decentralized, privacy-preserving analytical framework that enables collaborative detection of complex laundering networks without exposing sensitive customer data, thereby reconciling regulatory compliance with systemic financial risk mitigation.</a:t>
            </a:r>
          </a:p>
        </p:txBody>
      </p:sp>
    </p:spTree>
    <p:extLst>
      <p:ext uri="{BB962C8B-B14F-4D97-AF65-F5344CB8AC3E}">
        <p14:creationId xmlns:p14="http://schemas.microsoft.com/office/powerpoint/2010/main" val="949927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grpSp>
        <p:nvGrpSpPr>
          <p:cNvPr id="33" name="Group 32"/>
          <p:cNvGrpSpPr/>
          <p:nvPr/>
        </p:nvGrpSpPr>
        <p:grpSpPr>
          <a:xfrm>
            <a:off x="122050" y="1474470"/>
            <a:ext cx="2209165" cy="3067050"/>
            <a:chOff x="230" y="2322"/>
            <a:chExt cx="3479" cy="4830"/>
          </a:xfrm>
        </p:grpSpPr>
        <p:sp>
          <p:nvSpPr>
            <p:cNvPr id="34" name="Rectangle"/>
            <p:cNvSpPr/>
            <p:nvPr/>
          </p:nvSpPr>
          <p:spPr>
            <a:xfrm flipH="1">
              <a:off x="1099" y="2322"/>
              <a:ext cx="2611" cy="2465"/>
            </a:xfrm>
            <a:prstGeom prst="rect">
              <a:avLst/>
            </a:prstGeom>
            <a:solidFill>
              <a:schemeClr val="bg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35" name="Rectangle"/>
            <p:cNvSpPr/>
            <p:nvPr/>
          </p:nvSpPr>
          <p:spPr>
            <a:xfrm flipH="1">
              <a:off x="230" y="2624"/>
              <a:ext cx="3192" cy="4529"/>
            </a:xfrm>
            <a:prstGeom prst="rect">
              <a:avLst/>
            </a:prstGeom>
            <a:solidFill>
              <a:srgbClr val="58585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dirty="0"/>
            </a:p>
          </p:txBody>
        </p:sp>
        <p:pic>
          <p:nvPicPr>
            <p:cNvPr id="36" name="Image" descr="Image"/>
            <p:cNvPicPr>
              <a:picLocks noChangeAspect="1"/>
            </p:cNvPicPr>
            <p:nvPr/>
          </p:nvPicPr>
          <p:blipFill>
            <a:blip r:embed="rId2"/>
            <a:stretch>
              <a:fillRect/>
            </a:stretch>
          </p:blipFill>
          <p:spPr>
            <a:xfrm>
              <a:off x="987" y="3715"/>
              <a:ext cx="1683" cy="1805"/>
            </a:xfrm>
            <a:prstGeom prst="rect">
              <a:avLst/>
            </a:prstGeom>
            <a:ln w="12700">
              <a:miter lim="400000"/>
              <a:headEnd/>
              <a:tailEnd/>
            </a:ln>
          </p:spPr>
        </p:pic>
      </p:grpSp>
      <p:sp>
        <p:nvSpPr>
          <p:cNvPr id="14" name="TextBox 13"/>
          <p:cNvSpPr txBox="1"/>
          <p:nvPr/>
        </p:nvSpPr>
        <p:spPr>
          <a:xfrm>
            <a:off x="336000" y="3643668"/>
            <a:ext cx="1800000" cy="646331"/>
          </a:xfrm>
          <a:prstGeom prst="rect">
            <a:avLst/>
          </a:prstGeom>
          <a:noFill/>
        </p:spPr>
        <p:txBody>
          <a:bodyPr wrap="square" rtlCol="0">
            <a:spAutoFit/>
          </a:bodyPr>
          <a:lstStyle/>
          <a:p>
            <a:pPr algn="ctr"/>
            <a:r>
              <a:rPr lang="en-US" dirty="0"/>
              <a:t> </a:t>
            </a:r>
            <a:r>
              <a:rPr lang="en-US" dirty="0">
                <a:solidFill>
                  <a:schemeClr val="bg1"/>
                </a:solidFill>
              </a:rPr>
              <a:t>Dept of  AI&amp;ML and CSE(DS)</a:t>
            </a:r>
          </a:p>
        </p:txBody>
      </p:sp>
      <p:sp>
        <p:nvSpPr>
          <p:cNvPr id="4" name="Rectangle 3"/>
          <p:cNvSpPr/>
          <p:nvPr/>
        </p:nvSpPr>
        <p:spPr>
          <a:xfrm>
            <a:off x="2772519" y="1119038"/>
            <a:ext cx="8492872" cy="3970318"/>
          </a:xfrm>
          <a:prstGeom prst="rect">
            <a:avLst/>
          </a:prstGeom>
        </p:spPr>
        <p:txBody>
          <a:bodyPr wrap="square">
            <a:spAutoFit/>
          </a:bodyPr>
          <a:lstStyle/>
          <a:p>
            <a:r>
              <a:rPr lang="en-US" b="1" dirty="0"/>
              <a:t>9. Robust Deepfake-Resilient Video-KYC Using Multi-Stream Generalized Anti-Spoofing Models</a:t>
            </a:r>
            <a:endParaRPr lang="en-US" dirty="0"/>
          </a:p>
          <a:p>
            <a:br>
              <a:rPr lang="en-US" dirty="0"/>
            </a:br>
            <a:endParaRPr lang="en-US" dirty="0"/>
          </a:p>
          <a:p>
            <a:r>
              <a:rPr lang="en-US" b="1" dirty="0"/>
              <a:t>Problem Statement</a:t>
            </a:r>
            <a:endParaRPr lang="en-US" dirty="0"/>
          </a:p>
          <a:p>
            <a:r>
              <a:rPr lang="en-US" dirty="0"/>
              <a:t>The adoption of remote Video-KYC has introduced severe vulnerabilities due to rapid advances in AI-generated deepfake media. Current biometric verification systems lack generalization and exhibit high failure rates under real-world edge conditions such as low illumination, diverse skin tones, compression noise, and adversarial GAN-based attacks. Existing anti-spoofing models are narrowly trained and collapse outside controlled datasets. This project addresses the absence of </a:t>
            </a:r>
            <a:r>
              <a:rPr lang="en-US" b="1" dirty="0"/>
              <a:t>generalized, real-time deepfake detection</a:t>
            </a:r>
            <a:r>
              <a:rPr lang="en-US" dirty="0"/>
              <a:t> by developing a multi-stream deep learning architecture that jointly models spatial texture artifacts and temporal liveness cues, significantly improving robustness in unconstrained deployment environments.</a:t>
            </a:r>
          </a:p>
        </p:txBody>
      </p:sp>
    </p:spTree>
    <p:extLst>
      <p:ext uri="{BB962C8B-B14F-4D97-AF65-F5344CB8AC3E}">
        <p14:creationId xmlns:p14="http://schemas.microsoft.com/office/powerpoint/2010/main" val="1130781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942A28-03D7-E325-BC60-127C1A842660}"/>
            </a:ext>
          </a:extLst>
        </p:cNvPr>
        <p:cNvGrpSpPr/>
        <p:nvPr/>
      </p:nvGrpSpPr>
      <p:grpSpPr>
        <a:xfrm>
          <a:off x="0" y="0"/>
          <a:ext cx="0" cy="0"/>
          <a:chOff x="0" y="0"/>
          <a:chExt cx="0" cy="0"/>
        </a:xfrm>
      </p:grpSpPr>
      <p:sp>
        <p:nvSpPr>
          <p:cNvPr id="7" name="Google Shape;479;p12">
            <a:extLst>
              <a:ext uri="{FF2B5EF4-FFF2-40B4-BE49-F238E27FC236}">
                <a16:creationId xmlns:a16="http://schemas.microsoft.com/office/drawing/2014/main" id="{783FFBD6-21E4-0A68-7691-45F77BA64FA5}"/>
              </a:ext>
            </a:extLst>
          </p:cNvPr>
          <p:cNvSpPr/>
          <p:nvPr/>
        </p:nvSpPr>
        <p:spPr>
          <a:xfrm flipH="1">
            <a:off x="-132676" y="0"/>
            <a:ext cx="2469463"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sp>
        <p:nvSpPr>
          <p:cNvPr id="8" name="Google Shape;480;p12">
            <a:extLst>
              <a:ext uri="{FF2B5EF4-FFF2-40B4-BE49-F238E27FC236}">
                <a16:creationId xmlns:a16="http://schemas.microsoft.com/office/drawing/2014/main" id="{F8ED1EB5-F755-8F9D-6486-EB7D99F7EEF3}"/>
              </a:ext>
            </a:extLst>
          </p:cNvPr>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nvGrpSpPr>
          <p:cNvPr id="9" name="Google Shape;481;p12">
            <a:extLst>
              <a:ext uri="{FF2B5EF4-FFF2-40B4-BE49-F238E27FC236}">
                <a16:creationId xmlns:a16="http://schemas.microsoft.com/office/drawing/2014/main" id="{B6775F7B-37AF-C65D-1C84-4CB7E340AF12}"/>
              </a:ext>
            </a:extLst>
          </p:cNvPr>
          <p:cNvGrpSpPr/>
          <p:nvPr/>
        </p:nvGrpSpPr>
        <p:grpSpPr>
          <a:xfrm>
            <a:off x="179787" y="1269000"/>
            <a:ext cx="2209800" cy="3067685"/>
            <a:chOff x="230" y="2322"/>
            <a:chExt cx="3480" cy="4831"/>
          </a:xfrm>
        </p:grpSpPr>
        <p:sp>
          <p:nvSpPr>
            <p:cNvPr id="10" name="Google Shape;482;p12">
              <a:extLst>
                <a:ext uri="{FF2B5EF4-FFF2-40B4-BE49-F238E27FC236}">
                  <a16:creationId xmlns:a16="http://schemas.microsoft.com/office/drawing/2014/main" id="{B4442CE5-043F-CCD5-B204-E694AC69A56F}"/>
                </a:ext>
              </a:extLst>
            </p:cNvPr>
            <p:cNvSpPr/>
            <p:nvPr/>
          </p:nvSpPr>
          <p:spPr>
            <a:xfrm flipH="1">
              <a:off x="1099" y="2322"/>
              <a:ext cx="2611" cy="2465"/>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a:solidFill>
                  <a:schemeClr val="dk1"/>
                </a:solidFill>
                <a:latin typeface="Calibri"/>
                <a:ea typeface="Calibri"/>
                <a:cs typeface="Calibri"/>
                <a:sym typeface="Calibri"/>
              </a:endParaRPr>
            </a:p>
          </p:txBody>
        </p:sp>
        <p:sp>
          <p:nvSpPr>
            <p:cNvPr id="11" name="Google Shape;483;p12">
              <a:extLst>
                <a:ext uri="{FF2B5EF4-FFF2-40B4-BE49-F238E27FC236}">
                  <a16:creationId xmlns:a16="http://schemas.microsoft.com/office/drawing/2014/main" id="{7F46D12D-7703-937F-78E6-66D462F57868}"/>
                </a:ext>
              </a:extLst>
            </p:cNvPr>
            <p:cNvSpPr/>
            <p:nvPr/>
          </p:nvSpPr>
          <p:spPr>
            <a:xfrm flipH="1">
              <a:off x="230" y="2624"/>
              <a:ext cx="3192" cy="4529"/>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aseline="-25000" dirty="0">
                <a:solidFill>
                  <a:schemeClr val="dk1"/>
                </a:solidFill>
                <a:latin typeface="Calibri"/>
                <a:ea typeface="Calibri"/>
                <a:cs typeface="Calibri"/>
                <a:sym typeface="Calibri"/>
              </a:endParaRPr>
            </a:p>
          </p:txBody>
        </p:sp>
        <p:pic>
          <p:nvPicPr>
            <p:cNvPr id="12" name="Google Shape;484;p12" descr="Image">
              <a:extLst>
                <a:ext uri="{FF2B5EF4-FFF2-40B4-BE49-F238E27FC236}">
                  <a16:creationId xmlns:a16="http://schemas.microsoft.com/office/drawing/2014/main" id="{0AA0D12F-7B43-0C95-9A9A-9A0FF8240F9B}"/>
                </a:ext>
              </a:extLst>
            </p:cNvPr>
            <p:cNvPicPr preferRelativeResize="0"/>
            <p:nvPr/>
          </p:nvPicPr>
          <p:blipFill rotWithShape="1">
            <a:blip r:embed="rId2">
              <a:alphaModFix/>
            </a:blip>
            <a:srcRect/>
            <a:stretch/>
          </p:blipFill>
          <p:spPr>
            <a:xfrm>
              <a:off x="987" y="3715"/>
              <a:ext cx="1683" cy="1805"/>
            </a:xfrm>
            <a:prstGeom prst="rect">
              <a:avLst/>
            </a:prstGeom>
            <a:noFill/>
            <a:ln>
              <a:noFill/>
            </a:ln>
          </p:spPr>
        </p:pic>
      </p:grpSp>
      <p:sp>
        <p:nvSpPr>
          <p:cNvPr id="13" name="Google Shape;485;p12">
            <a:extLst>
              <a:ext uri="{FF2B5EF4-FFF2-40B4-BE49-F238E27FC236}">
                <a16:creationId xmlns:a16="http://schemas.microsoft.com/office/drawing/2014/main" id="{C5C3E418-19FD-50F3-AF16-635F156BF202}"/>
              </a:ext>
            </a:extLst>
          </p:cNvPr>
          <p:cNvSpPr txBox="1"/>
          <p:nvPr/>
        </p:nvSpPr>
        <p:spPr>
          <a:xfrm>
            <a:off x="287639" y="3453226"/>
            <a:ext cx="1800000" cy="646290"/>
          </a:xfrm>
          <a:prstGeom prst="rect">
            <a:avLst/>
          </a:prstGeom>
          <a:noFill/>
          <a:ln>
            <a:noFill/>
          </a:ln>
        </p:spPr>
        <p:txBody>
          <a:bodyPr spcFirstLastPara="1" wrap="square" lIns="91425" tIns="45700" rIns="91425" bIns="45700" anchor="t" anchorCtr="0">
            <a:spAutoFit/>
          </a:bodyPr>
          <a:lstStyle/>
          <a:p>
            <a:pPr lvl="0" algn="ctr"/>
            <a:r>
              <a:rPr lang="en-US" dirty="0">
                <a:solidFill>
                  <a:schemeClr val="bg1"/>
                </a:solidFill>
              </a:rPr>
              <a:t>Dept of  AI&amp;ML and CSE(DS)</a:t>
            </a:r>
            <a:endParaRPr dirty="0"/>
          </a:p>
        </p:txBody>
      </p:sp>
      <p:sp>
        <p:nvSpPr>
          <p:cNvPr id="14" name="Google Shape;487;p12">
            <a:extLst>
              <a:ext uri="{FF2B5EF4-FFF2-40B4-BE49-F238E27FC236}">
                <a16:creationId xmlns:a16="http://schemas.microsoft.com/office/drawing/2014/main" id="{E0AA2451-1D56-CC33-69C8-54643AB499E6}"/>
              </a:ext>
            </a:extLst>
          </p:cNvPr>
          <p:cNvSpPr/>
          <p:nvPr/>
        </p:nvSpPr>
        <p:spPr>
          <a:xfrm>
            <a:off x="3827463" y="17986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488;p12">
            <a:extLst>
              <a:ext uri="{FF2B5EF4-FFF2-40B4-BE49-F238E27FC236}">
                <a16:creationId xmlns:a16="http://schemas.microsoft.com/office/drawing/2014/main" id="{C66DBF37-853E-F05D-5B0B-E7C71697E1D4}"/>
              </a:ext>
            </a:extLst>
          </p:cNvPr>
          <p:cNvSpPr txBox="1"/>
          <p:nvPr/>
        </p:nvSpPr>
        <p:spPr>
          <a:xfrm>
            <a:off x="2593465" y="1329588"/>
            <a:ext cx="8600587" cy="3970277"/>
          </a:xfrm>
          <a:prstGeom prst="rect">
            <a:avLst/>
          </a:prstGeom>
          <a:noFill/>
          <a:ln>
            <a:noFill/>
          </a:ln>
        </p:spPr>
        <p:txBody>
          <a:bodyPr spcFirstLastPara="1" wrap="square" lIns="91425" tIns="45700" rIns="91425" bIns="45700" anchor="t" anchorCtr="0">
            <a:spAutoFit/>
          </a:bodyPr>
          <a:lstStyle/>
          <a:p>
            <a:r>
              <a:rPr lang="en-US" b="1" dirty="0"/>
              <a:t>10. Unsupervised Anomaly Detection in High-Frequency Trading Streams Using Variational Autoencoders</a:t>
            </a:r>
            <a:endParaRPr lang="en-US" dirty="0"/>
          </a:p>
          <a:p>
            <a:br>
              <a:rPr lang="en-US" dirty="0"/>
            </a:br>
            <a:endParaRPr lang="en-US" dirty="0"/>
          </a:p>
          <a:p>
            <a:r>
              <a:rPr lang="en-US" b="1" dirty="0"/>
              <a:t>Problem Statement</a:t>
            </a:r>
            <a:endParaRPr lang="en-US" dirty="0"/>
          </a:p>
          <a:p>
            <a:r>
              <a:rPr lang="en-US" dirty="0"/>
              <a:t>High-Frequency Trading (HFT) systems generate ultra-high-dimensional, noisy data streams that render rule-based surveillance and traditional statistical models ineffective. Existing detection mechanisms rely on predefined thresholds and struggle to identify novel market manipulation strategies or emergent systemic risks. Standard autoencoders lack probabilistic modeling capability, leading to excessive false alarms under volatile market conditions. This project addresses this gap by employing Variational Autoencoders to learn the latent distribution of normal market behavior and detect anomalies via reconstruction error, enabling adaptive, real-time market integrity monitoring without reliance on labeled fraud data.</a:t>
            </a:r>
          </a:p>
        </p:txBody>
      </p:sp>
    </p:spTree>
    <p:extLst>
      <p:ext uri="{BB962C8B-B14F-4D97-AF65-F5344CB8AC3E}">
        <p14:creationId xmlns:p14="http://schemas.microsoft.com/office/powerpoint/2010/main" val="3003559243"/>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2090</TotalTime>
  <Words>1330</Words>
  <Application>Microsoft Office PowerPoint</Application>
  <PresentationFormat>Widescreen</PresentationFormat>
  <Paragraphs>54</Paragraphs>
  <Slides>11</Slides>
  <Notes>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11</vt:i4>
      </vt:variant>
    </vt:vector>
  </HeadingPairs>
  <TitlesOfParts>
    <vt:vector size="19" baseType="lpstr">
      <vt:lpstr>Arial</vt:lpstr>
      <vt:lpstr>Calibri</vt:lpstr>
      <vt:lpstr>Calibri Light</vt:lpstr>
      <vt:lpstr>Futura Cyrillic Book</vt:lpstr>
      <vt:lpstr>1_Custom Design</vt:lpstr>
      <vt:lpstr>Custom Design</vt:lpstr>
      <vt:lpstr>2_Custom Design</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Principal aip</dc:creator>
  <cp:lastModifiedBy>P.Aswin krishna</cp:lastModifiedBy>
  <cp:revision>102</cp:revision>
  <dcterms:created xsi:type="dcterms:W3CDTF">2021-09-07T04:22:00Z</dcterms:created>
  <dcterms:modified xsi:type="dcterms:W3CDTF">2026-02-03T10:27:22Z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0398283ACE364599A240D38F3F474187_13</vt:lpwstr>
  </property>
  <property fmtid="{D5CDD505-2E9C-101B-9397-08002B2CF9AE}" pid="3" name="KSOProductBuildVer">
    <vt:lpwstr>1033-12.2.0.13489</vt:lpwstr>
  </property>
</Properties>
</file>